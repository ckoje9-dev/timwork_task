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>
        <p:scale>
          <a:sx n="75" d="100"/>
          <a:sy n="75" d="100"/>
        </p:scale>
        <p:origin x="2860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9848E-5B6C-7F66-BC4D-3942A13E7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FB65B6-8C48-9302-BCED-FC9EDFC13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ACEF43-CE00-4C4E-2286-54F1B3C4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04E46-B70D-33D7-3159-DDB0B403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02C3B-02FB-E82B-24F3-7E0FCC79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18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4DE44-2D2C-0201-8996-05DD068A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A99D17-BEEC-317C-D92B-FD034DB8C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2E7BD-D79E-6071-2DE3-31D069DB9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84C4D1-BB25-F988-550F-085F9A95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DFFC0F-C91E-1453-38F5-294C7704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48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2F8B8-7B47-31CF-8FFB-3F4577BC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F6571C-1A9A-96F6-D457-87BB7FD63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118C28-E004-1393-1A83-E69600CD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B9727E-3A57-7809-C113-3B03BE7C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F379C1-B30A-3E42-A60F-265C6E64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9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A1D78-2B69-0B44-7B75-B55535B3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157F7-28CE-5FD6-8162-00E3129E3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F3B614-247C-934F-EBD8-9EC6F6945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C387D3-F643-23FC-C103-E88F060A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EF80E8-1327-1D53-6DD3-3D14E43C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9A3B3A-44F6-EFA1-5FDD-363060F5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24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32B4B-D9DB-3EC4-FACF-0A765B70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E280F8-F737-1FBE-92A5-B4F68F0C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BBF2FE-D604-5F3A-39F7-E1F87400C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D90EED-6B4E-B000-1D48-B8F83C843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89C22D-FA77-88FA-D22C-471F2CE67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4BE33F-19B2-0472-5CEC-98796FF4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0429F65-8979-F036-8969-AF645DEB2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00DE69C-4ADF-B23E-9360-C9EE7F2EA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63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D1761-F9DC-F268-1DEE-E170628A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95F673-21B0-87C4-F067-5D774BA3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1AEC18-8A03-30F7-9D04-F7A5CB69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61B872-956B-90D7-B9D4-A0F7F6E2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60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3BDCAF-D635-7A6D-0154-3903D0E1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CFEC960-6F01-7DCF-022C-BAFC64AC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4D5077-4A0D-4838-73C8-605DC5EC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99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D1D64-ADB6-84FD-4BEC-63121D75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8F9A5-D197-6781-43DE-994A23B99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82AF13-B485-1A90-E66E-B41EED32F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09DA6C-586C-4C4C-F17F-87A42C07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74371C-FE57-B852-955A-E960D424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034241-D981-82B9-F376-FA617357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79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DA3BD-03A0-5A3C-A0CC-76B59A6F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E2C9E-5431-D96C-F55B-A6E191EBF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131683-8411-B01D-A954-4E9811F4B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1044B-2413-1B0E-E7BB-DDC5D19D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73619A-BDE0-906C-8DA3-3BAC552B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4820EC-3670-3B35-8D6F-1B76CA1AC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8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8C5B9-96EF-4B24-B325-AD582B4F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5093A-AB47-42DF-A09C-84748FB41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767121-2481-B7D7-2289-2847DDF3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60DBA6-B691-1E0A-5A66-36563A64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7E7751-B8D9-8190-47CD-AB7DF14D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64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270D1C-EC68-3D70-F4EE-EE6BEFAFE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3221A8-B56B-8825-D8B5-8633C902B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5B0C74-529B-E656-CE32-39B6273E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BDF231-3588-DB80-BA2B-26FEB6BF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7876A6-880F-E001-6E69-DABF7D9E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286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CD1118-6349-1807-2EA9-7736E0E7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8EEF5A-BC68-F5F6-EC8B-AD9CBB40B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1DD86-6301-C428-C3E3-B63F9FD9B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1BDB9-0A37-494D-B3E5-F1FD736B152E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6805BB-67C2-35DD-2428-B73B58ED3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5DF9D1-E9D3-3A0A-6C1D-3EFD740FD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F9C14-58A2-4DD2-9A6C-0E3DF6DE95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3.jpe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7.jpeg"/><Relationship Id="rId12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11" Type="http://schemas.openxmlformats.org/officeDocument/2006/relationships/image" Target="../media/image19.png"/><Relationship Id="rId5" Type="http://schemas.openxmlformats.org/officeDocument/2006/relationships/image" Target="../media/image3.jpeg"/><Relationship Id="rId10" Type="http://schemas.openxmlformats.org/officeDocument/2006/relationships/image" Target="../media/image18.jpe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35D8143-2CB3-FC38-2FBC-A0E41E3047A3}"/>
              </a:ext>
            </a:extLst>
          </p:cNvPr>
          <p:cNvCxnSpPr/>
          <p:nvPr/>
        </p:nvCxnSpPr>
        <p:spPr>
          <a:xfrm>
            <a:off x="-57150" y="673100"/>
            <a:ext cx="12249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B827FB9-9765-68F7-20F4-524C158B9C91}"/>
              </a:ext>
            </a:extLst>
          </p:cNvPr>
          <p:cNvSpPr/>
          <p:nvPr/>
        </p:nvSpPr>
        <p:spPr>
          <a:xfrm>
            <a:off x="2241498" y="197923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9F424B-578D-EC36-6BC1-2A7207B2CF7C}"/>
              </a:ext>
            </a:extLst>
          </p:cNvPr>
          <p:cNvSpPr txBox="1"/>
          <p:nvPr/>
        </p:nvSpPr>
        <p:spPr>
          <a:xfrm>
            <a:off x="2576150" y="147734"/>
            <a:ext cx="416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Demo Project – </a:t>
            </a:r>
            <a:r>
              <a:rPr lang="ko-KR" altLang="en-US" dirty="0"/>
              <a:t>마곡동 주민공동시설</a:t>
            </a: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60423442-8823-E250-BE91-CD7C333650D1}"/>
              </a:ext>
            </a:extLst>
          </p:cNvPr>
          <p:cNvSpPr/>
          <p:nvPr/>
        </p:nvSpPr>
        <p:spPr>
          <a:xfrm>
            <a:off x="694047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F1027F-2A2B-A718-981F-4F06608E923C}"/>
              </a:ext>
            </a:extLst>
          </p:cNvPr>
          <p:cNvSpPr txBox="1"/>
          <p:nvPr/>
        </p:nvSpPr>
        <p:spPr>
          <a:xfrm>
            <a:off x="10756900" y="147734"/>
            <a:ext cx="212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양승호</a:t>
            </a:r>
            <a:endParaRPr lang="ko-KR" altLang="en-US" dirty="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F72950C4-A421-F7F4-EE3F-4EF51B789A40}"/>
              </a:ext>
            </a:extLst>
          </p:cNvPr>
          <p:cNvSpPr/>
          <p:nvPr/>
        </p:nvSpPr>
        <p:spPr>
          <a:xfrm>
            <a:off x="1176652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645E58D-E4BF-57CD-F09E-265170E457AE}"/>
              </a:ext>
            </a:extLst>
          </p:cNvPr>
          <p:cNvCxnSpPr>
            <a:cxnSpLocks/>
          </p:cNvCxnSpPr>
          <p:nvPr/>
        </p:nvCxnSpPr>
        <p:spPr>
          <a:xfrm>
            <a:off x="201295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폰트, 로고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9BEC81-ADA0-2874-074D-4910F880D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61" y="60858"/>
            <a:ext cx="1570488" cy="5621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A7F8197-908D-8726-226D-36C07EC39B45}"/>
              </a:ext>
            </a:extLst>
          </p:cNvPr>
          <p:cNvSpPr txBox="1"/>
          <p:nvPr/>
        </p:nvSpPr>
        <p:spPr>
          <a:xfrm>
            <a:off x="495300" y="888982"/>
            <a:ext cx="151765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대시보드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도면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이슈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사진대지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멤버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보안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05886CC-862B-9ABC-B910-0807ADBD6E1A}"/>
              </a:ext>
            </a:extLst>
          </p:cNvPr>
          <p:cNvSpPr/>
          <p:nvPr/>
        </p:nvSpPr>
        <p:spPr>
          <a:xfrm>
            <a:off x="148101" y="1008089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B8C387D-FCBC-16AE-3A04-3ADA0D1C5F80}"/>
              </a:ext>
            </a:extLst>
          </p:cNvPr>
          <p:cNvSpPr/>
          <p:nvPr/>
        </p:nvSpPr>
        <p:spPr>
          <a:xfrm>
            <a:off x="148101" y="1417956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1BB4DA5-185C-F627-2609-B4D74B15A7FF}"/>
              </a:ext>
            </a:extLst>
          </p:cNvPr>
          <p:cNvSpPr/>
          <p:nvPr/>
        </p:nvSpPr>
        <p:spPr>
          <a:xfrm>
            <a:off x="148101" y="1827823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D1D603-2E77-EFCA-5E34-A5343D12C156}"/>
              </a:ext>
            </a:extLst>
          </p:cNvPr>
          <p:cNvSpPr/>
          <p:nvPr/>
        </p:nvSpPr>
        <p:spPr>
          <a:xfrm>
            <a:off x="148101" y="2237690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4B181C0-2D98-76CF-84C3-35E5A734EF50}"/>
              </a:ext>
            </a:extLst>
          </p:cNvPr>
          <p:cNvSpPr/>
          <p:nvPr/>
        </p:nvSpPr>
        <p:spPr>
          <a:xfrm>
            <a:off x="5888241" y="5890745"/>
            <a:ext cx="180000" cy="18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4FEA6E9-B2F1-5466-A7F0-09BD67B5FA25}"/>
              </a:ext>
            </a:extLst>
          </p:cNvPr>
          <p:cNvSpPr/>
          <p:nvPr/>
        </p:nvSpPr>
        <p:spPr>
          <a:xfrm>
            <a:off x="148101" y="2647557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83549B-7163-2019-6C67-A183D3764DD8}"/>
              </a:ext>
            </a:extLst>
          </p:cNvPr>
          <p:cNvSpPr txBox="1"/>
          <p:nvPr/>
        </p:nvSpPr>
        <p:spPr>
          <a:xfrm>
            <a:off x="2324100" y="860278"/>
            <a:ext cx="4358199" cy="576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Demo Project –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마곡동 주민공동시설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en-US" dirty="0"/>
              <a:t>대시보드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EC4BA7A-3E2E-D28D-35C7-794F941D70A3}"/>
              </a:ext>
            </a:extLst>
          </p:cNvPr>
          <p:cNvSpPr/>
          <p:nvPr/>
        </p:nvSpPr>
        <p:spPr>
          <a:xfrm>
            <a:off x="2444748" y="2348039"/>
            <a:ext cx="4702168" cy="2496040"/>
          </a:xfrm>
          <a:prstGeom prst="roundRect">
            <a:avLst>
              <a:gd name="adj" fmla="val 348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건축 개요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위치           </a:t>
            </a:r>
            <a:r>
              <a:rPr lang="ko-KR" altLang="en-US" sz="1400" dirty="0">
                <a:solidFill>
                  <a:schemeClr val="tx1"/>
                </a:solidFill>
              </a:rPr>
              <a:t>서울시 강서구 마곡동 </a:t>
            </a:r>
            <a:r>
              <a:rPr lang="en-US" altLang="ko-KR" sz="1400" dirty="0">
                <a:solidFill>
                  <a:schemeClr val="tx1"/>
                </a:solidFill>
              </a:rPr>
              <a:t>9999</a:t>
            </a: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대지면적     </a:t>
            </a:r>
            <a:r>
              <a:rPr lang="en-US" altLang="ko-KR" sz="1400" dirty="0">
                <a:solidFill>
                  <a:schemeClr val="tx1"/>
                </a:solidFill>
              </a:rPr>
              <a:t>9,999m2</a:t>
            </a: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용도           </a:t>
            </a:r>
            <a:r>
              <a:rPr lang="ko-KR" altLang="en-US" sz="1400" dirty="0">
                <a:solidFill>
                  <a:schemeClr val="tx1"/>
                </a:solidFill>
              </a:rPr>
              <a:t>근린공공시설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규모           </a:t>
            </a:r>
            <a:r>
              <a:rPr lang="ko-KR" altLang="en-US" sz="1400" dirty="0">
                <a:solidFill>
                  <a:schemeClr val="tx1"/>
                </a:solidFill>
              </a:rPr>
              <a:t>지하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층 </a:t>
            </a:r>
            <a:r>
              <a:rPr lang="en-US" altLang="ko-KR" sz="1400" dirty="0">
                <a:solidFill>
                  <a:schemeClr val="tx1"/>
                </a:solidFill>
              </a:rPr>
              <a:t>/ </a:t>
            </a:r>
            <a:r>
              <a:rPr lang="ko-KR" altLang="en-US" sz="1400" dirty="0">
                <a:solidFill>
                  <a:schemeClr val="tx1"/>
                </a:solidFill>
              </a:rPr>
              <a:t>지상 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>
                <a:solidFill>
                  <a:schemeClr val="tx1"/>
                </a:solidFill>
              </a:rPr>
              <a:t>층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건축면적     </a:t>
            </a:r>
            <a:r>
              <a:rPr lang="en-US" altLang="ko-KR" sz="1400" dirty="0">
                <a:solidFill>
                  <a:schemeClr val="tx1"/>
                </a:solidFill>
              </a:rPr>
              <a:t>6,666m2</a:t>
            </a: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건폐율        </a:t>
            </a:r>
            <a:r>
              <a:rPr lang="en-US" altLang="ko-KR" sz="1400" dirty="0">
                <a:solidFill>
                  <a:schemeClr val="tx1"/>
                </a:solidFill>
              </a:rPr>
              <a:t>66.66%</a:t>
            </a: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연면적        </a:t>
            </a:r>
            <a:r>
              <a:rPr lang="en-US" altLang="ko-KR" sz="1400" dirty="0">
                <a:solidFill>
                  <a:schemeClr val="tx1"/>
                </a:solidFill>
              </a:rPr>
              <a:t>26,664m2</a:t>
            </a: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용적률        </a:t>
            </a:r>
            <a:r>
              <a:rPr lang="en-US" altLang="ko-KR" sz="1400" dirty="0">
                <a:solidFill>
                  <a:schemeClr val="tx1"/>
                </a:solidFill>
              </a:rPr>
              <a:t>400%</a:t>
            </a: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조경면적     </a:t>
            </a:r>
            <a:r>
              <a:rPr lang="en-US" altLang="ko-KR" sz="1400" dirty="0">
                <a:solidFill>
                  <a:schemeClr val="tx1"/>
                </a:solidFill>
              </a:rPr>
              <a:t>333m2</a:t>
            </a: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주차대수     </a:t>
            </a:r>
            <a:r>
              <a:rPr lang="en-US" altLang="ko-KR" sz="1400" dirty="0">
                <a:solidFill>
                  <a:schemeClr val="tx1"/>
                </a:solidFill>
              </a:rPr>
              <a:t>333</a:t>
            </a:r>
            <a:r>
              <a:rPr lang="ko-KR" altLang="en-US" sz="1400" dirty="0">
                <a:solidFill>
                  <a:schemeClr val="tx1"/>
                </a:solidFill>
              </a:rPr>
              <a:t>대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373AE2B-8421-E1EB-D0C7-B2BA021B485E}"/>
              </a:ext>
            </a:extLst>
          </p:cNvPr>
          <p:cNvSpPr/>
          <p:nvPr/>
        </p:nvSpPr>
        <p:spPr>
          <a:xfrm>
            <a:off x="2441483" y="5074493"/>
            <a:ext cx="4702168" cy="2607624"/>
          </a:xfrm>
          <a:prstGeom prst="roundRect">
            <a:avLst>
              <a:gd name="adj" fmla="val 348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2EAF153E-FCC5-96BD-A533-316C4DFF20CD}"/>
              </a:ext>
            </a:extLst>
          </p:cNvPr>
          <p:cNvSpPr/>
          <p:nvPr/>
        </p:nvSpPr>
        <p:spPr>
          <a:xfrm>
            <a:off x="2787495" y="5152100"/>
            <a:ext cx="2519955" cy="2520000"/>
          </a:xfrm>
          <a:custGeom>
            <a:avLst/>
            <a:gdLst>
              <a:gd name="csX0" fmla="*/ 1260000 w 2519955"/>
              <a:gd name="csY0" fmla="*/ 0 h 2520000"/>
              <a:gd name="csX1" fmla="*/ 1264358 w 2519955"/>
              <a:gd name="csY1" fmla="*/ 220 h 2520000"/>
              <a:gd name="csX2" fmla="*/ 1264358 w 2519955"/>
              <a:gd name="csY2" fmla="*/ 360220 h 2520000"/>
              <a:gd name="csX3" fmla="*/ 1260000 w 2519955"/>
              <a:gd name="csY3" fmla="*/ 360000 h 2520000"/>
              <a:gd name="csX4" fmla="*/ 360000 w 2519955"/>
              <a:gd name="csY4" fmla="*/ 1260000 h 2520000"/>
              <a:gd name="csX5" fmla="*/ 1260000 w 2519955"/>
              <a:gd name="csY5" fmla="*/ 2160000 h 2520000"/>
              <a:gd name="csX6" fmla="*/ 2155354 w 2519955"/>
              <a:gd name="csY6" fmla="*/ 1352020 h 2520000"/>
              <a:gd name="csX7" fmla="*/ 2159955 w 2519955"/>
              <a:gd name="csY7" fmla="*/ 1260891 h 2520000"/>
              <a:gd name="csX8" fmla="*/ 2519955 w 2519955"/>
              <a:gd name="csY8" fmla="*/ 1260891 h 2520000"/>
              <a:gd name="csX9" fmla="*/ 2513495 w 2519955"/>
              <a:gd name="csY9" fmla="*/ 1388828 h 2520000"/>
              <a:gd name="csX10" fmla="*/ 1260000 w 2519955"/>
              <a:gd name="csY10" fmla="*/ 2520000 h 2520000"/>
              <a:gd name="csX11" fmla="*/ 0 w 2519955"/>
              <a:gd name="csY11" fmla="*/ 1260000 h 2520000"/>
              <a:gd name="csX12" fmla="*/ 1260000 w 2519955"/>
              <a:gd name="csY12" fmla="*/ 0 h 25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19955" h="2520000">
                <a:moveTo>
                  <a:pt x="1260000" y="0"/>
                </a:moveTo>
                <a:lnTo>
                  <a:pt x="1264358" y="220"/>
                </a:lnTo>
                <a:lnTo>
                  <a:pt x="1264358" y="360220"/>
                </a:lnTo>
                <a:lnTo>
                  <a:pt x="1260000" y="360000"/>
                </a:lnTo>
                <a:cubicBezTo>
                  <a:pt x="762944" y="360000"/>
                  <a:pt x="360000" y="762944"/>
                  <a:pt x="360000" y="1260000"/>
                </a:cubicBezTo>
                <a:cubicBezTo>
                  <a:pt x="360000" y="1757056"/>
                  <a:pt x="762944" y="2160000"/>
                  <a:pt x="1260000" y="2160000"/>
                </a:cubicBezTo>
                <a:cubicBezTo>
                  <a:pt x="1725990" y="2160000"/>
                  <a:pt x="2109265" y="1805850"/>
                  <a:pt x="2155354" y="1352020"/>
                </a:cubicBezTo>
                <a:lnTo>
                  <a:pt x="2159955" y="1260891"/>
                </a:lnTo>
                <a:lnTo>
                  <a:pt x="2519955" y="1260891"/>
                </a:lnTo>
                <a:lnTo>
                  <a:pt x="2513495" y="1388828"/>
                </a:lnTo>
                <a:cubicBezTo>
                  <a:pt x="2448970" y="2024191"/>
                  <a:pt x="1912387" y="2520000"/>
                  <a:pt x="1260000" y="2520000"/>
                </a:cubicBezTo>
                <a:cubicBezTo>
                  <a:pt x="564121" y="2520000"/>
                  <a:pt x="0" y="1955879"/>
                  <a:pt x="0" y="1260000"/>
                </a:cubicBezTo>
                <a:cubicBezTo>
                  <a:pt x="0" y="564121"/>
                  <a:pt x="564121" y="0"/>
                  <a:pt x="126000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6B81FD-D821-8276-6E79-A415DCCD4AE0}"/>
              </a:ext>
            </a:extLst>
          </p:cNvPr>
          <p:cNvSpPr txBox="1"/>
          <p:nvPr/>
        </p:nvSpPr>
        <p:spPr>
          <a:xfrm>
            <a:off x="3555735" y="6081775"/>
            <a:ext cx="9834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/>
              <a:t>1199</a:t>
            </a: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Total Issues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49" name="자유형: 도형 2048">
            <a:extLst>
              <a:ext uri="{FF2B5EF4-FFF2-40B4-BE49-F238E27FC236}">
                <a16:creationId xmlns:a16="http://schemas.microsoft.com/office/drawing/2014/main" id="{286A599F-E1F5-55FC-8CE0-DD9E12878230}"/>
              </a:ext>
            </a:extLst>
          </p:cNvPr>
          <p:cNvSpPr/>
          <p:nvPr/>
        </p:nvSpPr>
        <p:spPr>
          <a:xfrm flipV="1">
            <a:off x="4047474" y="5151733"/>
            <a:ext cx="500834" cy="433736"/>
          </a:xfrm>
          <a:custGeom>
            <a:avLst/>
            <a:gdLst>
              <a:gd name="csX0" fmla="*/ 500677 w 500677"/>
              <a:gd name="csY0" fmla="*/ 329013 h 433736"/>
              <a:gd name="csX1" fmla="*/ 462033 w 500677"/>
              <a:gd name="csY1" fmla="*/ 346339 h 433736"/>
              <a:gd name="csX2" fmla="*/ 22 w 500677"/>
              <a:gd name="csY2" fmla="*/ 433736 h 433736"/>
              <a:gd name="csX3" fmla="*/ 0 w 500677"/>
              <a:gd name="csY3" fmla="*/ 433735 h 433736"/>
              <a:gd name="csX4" fmla="*/ 0 w 500677"/>
              <a:gd name="csY4" fmla="*/ 73735 h 433736"/>
              <a:gd name="csX5" fmla="*/ 22 w 500677"/>
              <a:gd name="csY5" fmla="*/ 73736 h 433736"/>
              <a:gd name="csX6" fmla="*/ 330029 w 500677"/>
              <a:gd name="csY6" fmla="*/ 11309 h 433736"/>
              <a:gd name="csX7" fmla="*/ 352463 w 500677"/>
              <a:gd name="csY7" fmla="*/ 0 h 4337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00677" h="433736">
                <a:moveTo>
                  <a:pt x="500677" y="329013"/>
                </a:moveTo>
                <a:lnTo>
                  <a:pt x="462033" y="346339"/>
                </a:lnTo>
                <a:cubicBezTo>
                  <a:pt x="318978" y="402748"/>
                  <a:pt x="163119" y="433736"/>
                  <a:pt x="22" y="433736"/>
                </a:cubicBezTo>
                <a:lnTo>
                  <a:pt x="0" y="433735"/>
                </a:lnTo>
                <a:lnTo>
                  <a:pt x="0" y="73735"/>
                </a:lnTo>
                <a:lnTo>
                  <a:pt x="22" y="73736"/>
                </a:lnTo>
                <a:cubicBezTo>
                  <a:pt x="116520" y="73736"/>
                  <a:pt x="227847" y="51602"/>
                  <a:pt x="330029" y="11309"/>
                </a:cubicBezTo>
                <a:lnTo>
                  <a:pt x="35246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54" name="자유형: 도형 2053">
            <a:extLst>
              <a:ext uri="{FF2B5EF4-FFF2-40B4-BE49-F238E27FC236}">
                <a16:creationId xmlns:a16="http://schemas.microsoft.com/office/drawing/2014/main" id="{C553618F-5F46-2D47-FF0A-F89F109C2AFF}"/>
              </a:ext>
            </a:extLst>
          </p:cNvPr>
          <p:cNvSpPr/>
          <p:nvPr/>
        </p:nvSpPr>
        <p:spPr>
          <a:xfrm flipV="1">
            <a:off x="4048314" y="5154424"/>
            <a:ext cx="860002" cy="603068"/>
          </a:xfrm>
          <a:custGeom>
            <a:avLst/>
            <a:gdLst>
              <a:gd name="csX0" fmla="*/ 859732 w 859732"/>
              <a:gd name="csY0" fmla="*/ 263304 h 603068"/>
              <a:gd name="csX1" fmla="*/ 847218 w 859732"/>
              <a:gd name="csY1" fmla="*/ 275743 h 603068"/>
              <a:gd name="csX2" fmla="*/ 22 w 859732"/>
              <a:gd name="csY2" fmla="*/ 603068 h 603068"/>
              <a:gd name="csX3" fmla="*/ 0 w 859732"/>
              <a:gd name="csY3" fmla="*/ 603067 h 603068"/>
              <a:gd name="csX4" fmla="*/ 0 w 859732"/>
              <a:gd name="csY4" fmla="*/ 603029 h 603068"/>
              <a:gd name="csX5" fmla="*/ 120060 w 859732"/>
              <a:gd name="csY5" fmla="*/ 597345 h 603068"/>
              <a:gd name="csX6" fmla="*/ 461193 w 859732"/>
              <a:gd name="csY6" fmla="*/ 515671 h 603068"/>
              <a:gd name="csX7" fmla="*/ 499837 w 859732"/>
              <a:gd name="csY7" fmla="*/ 498345 h 603068"/>
              <a:gd name="csX8" fmla="*/ 351778 w 859732"/>
              <a:gd name="csY8" fmla="*/ 169677 h 603068"/>
              <a:gd name="csX9" fmla="*/ 475946 w 859732"/>
              <a:gd name="csY9" fmla="*/ 107081 h 603068"/>
              <a:gd name="csX10" fmla="*/ 605162 w 859732"/>
              <a:gd name="csY10" fmla="*/ 9265 h 603068"/>
              <a:gd name="csX11" fmla="*/ 613683 w 859732"/>
              <a:gd name="csY11" fmla="*/ 0 h 603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59732" h="603068">
                <a:moveTo>
                  <a:pt x="859732" y="263304"/>
                </a:moveTo>
                <a:lnTo>
                  <a:pt x="847218" y="275743"/>
                </a:lnTo>
                <a:cubicBezTo>
                  <a:pt x="623458" y="479116"/>
                  <a:pt x="326216" y="603068"/>
                  <a:pt x="22" y="603068"/>
                </a:cubicBezTo>
                <a:lnTo>
                  <a:pt x="0" y="603067"/>
                </a:lnTo>
                <a:lnTo>
                  <a:pt x="0" y="603029"/>
                </a:lnTo>
                <a:lnTo>
                  <a:pt x="120060" y="597345"/>
                </a:lnTo>
                <a:cubicBezTo>
                  <a:pt x="239408" y="585985"/>
                  <a:pt x="353901" y="557977"/>
                  <a:pt x="461193" y="515671"/>
                </a:cubicBezTo>
                <a:lnTo>
                  <a:pt x="499837" y="498345"/>
                </a:lnTo>
                <a:lnTo>
                  <a:pt x="351778" y="169677"/>
                </a:lnTo>
                <a:lnTo>
                  <a:pt x="475946" y="107081"/>
                </a:lnTo>
                <a:cubicBezTo>
                  <a:pt x="521967" y="78353"/>
                  <a:pt x="565205" y="45582"/>
                  <a:pt x="605162" y="9265"/>
                </a:cubicBezTo>
                <a:lnTo>
                  <a:pt x="613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58" name="자유형: 도형 2057">
            <a:extLst>
              <a:ext uri="{FF2B5EF4-FFF2-40B4-BE49-F238E27FC236}">
                <a16:creationId xmlns:a16="http://schemas.microsoft.com/office/drawing/2014/main" id="{6C1C0637-66E7-8C2E-08B1-32E6A3E02C52}"/>
              </a:ext>
            </a:extLst>
          </p:cNvPr>
          <p:cNvSpPr/>
          <p:nvPr/>
        </p:nvSpPr>
        <p:spPr>
          <a:xfrm flipV="1">
            <a:off x="4047472" y="5160774"/>
            <a:ext cx="1259978" cy="1251276"/>
          </a:xfrm>
          <a:custGeom>
            <a:avLst/>
            <a:gdLst>
              <a:gd name="csX0" fmla="*/ 1259582 w 1259582"/>
              <a:gd name="csY0" fmla="*/ 0 h 1251276"/>
              <a:gd name="csX1" fmla="*/ 1253517 w 1259582"/>
              <a:gd name="csY1" fmla="*/ 120104 h 1251276"/>
              <a:gd name="csX2" fmla="*/ 927596 w 1259582"/>
              <a:gd name="csY2" fmla="*/ 844051 h 1251276"/>
              <a:gd name="csX3" fmla="*/ 860168 w 1259582"/>
              <a:gd name="csY3" fmla="*/ 911078 h 1251276"/>
              <a:gd name="csX4" fmla="*/ 614526 w 1259582"/>
              <a:gd name="csY4" fmla="*/ 648209 h 1251276"/>
              <a:gd name="csX5" fmla="*/ 606005 w 1259582"/>
              <a:gd name="csY5" fmla="*/ 657474 h 1251276"/>
              <a:gd name="csX6" fmla="*/ 865 w 1259582"/>
              <a:gd name="csY6" fmla="*/ 891277 h 1251276"/>
              <a:gd name="csX7" fmla="*/ 843 w 1259582"/>
              <a:gd name="csY7" fmla="*/ 891276 h 1251276"/>
              <a:gd name="csX8" fmla="*/ 843 w 1259582"/>
              <a:gd name="csY8" fmla="*/ 1251237 h 1251276"/>
              <a:gd name="csX9" fmla="*/ 22 w 1259582"/>
              <a:gd name="csY9" fmla="*/ 1251276 h 1251276"/>
              <a:gd name="csX10" fmla="*/ 0 w 1259582"/>
              <a:gd name="csY10" fmla="*/ 1251276 h 1251276"/>
              <a:gd name="csX11" fmla="*/ 0 w 1259582"/>
              <a:gd name="csY11" fmla="*/ 891276 h 1251276"/>
              <a:gd name="csX12" fmla="*/ 22 w 1259582"/>
              <a:gd name="csY12" fmla="*/ 891276 h 1251276"/>
              <a:gd name="csX13" fmla="*/ 895376 w 1259582"/>
              <a:gd name="csY13" fmla="*/ 83296 h 1251276"/>
              <a:gd name="csX14" fmla="*/ 899582 w 1259582"/>
              <a:gd name="csY14" fmla="*/ 0 h 1251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259582" h="1251276">
                <a:moveTo>
                  <a:pt x="1259582" y="0"/>
                </a:moveTo>
                <a:lnTo>
                  <a:pt x="1253517" y="120104"/>
                </a:lnTo>
                <a:cubicBezTo>
                  <a:pt x="1225287" y="398076"/>
                  <a:pt x="1106703" y="649336"/>
                  <a:pt x="927596" y="844051"/>
                </a:cubicBezTo>
                <a:lnTo>
                  <a:pt x="860168" y="911078"/>
                </a:lnTo>
                <a:lnTo>
                  <a:pt x="614526" y="648209"/>
                </a:lnTo>
                <a:lnTo>
                  <a:pt x="606005" y="657474"/>
                </a:lnTo>
                <a:cubicBezTo>
                  <a:pt x="446176" y="802740"/>
                  <a:pt x="233860" y="891277"/>
                  <a:pt x="865" y="891277"/>
                </a:cubicBezTo>
                <a:lnTo>
                  <a:pt x="843" y="891276"/>
                </a:lnTo>
                <a:lnTo>
                  <a:pt x="843" y="1251237"/>
                </a:lnTo>
                <a:lnTo>
                  <a:pt x="22" y="1251276"/>
                </a:lnTo>
                <a:lnTo>
                  <a:pt x="0" y="1251276"/>
                </a:lnTo>
                <a:lnTo>
                  <a:pt x="0" y="891276"/>
                </a:lnTo>
                <a:lnTo>
                  <a:pt x="22" y="891276"/>
                </a:lnTo>
                <a:cubicBezTo>
                  <a:pt x="466012" y="891276"/>
                  <a:pt x="849287" y="537126"/>
                  <a:pt x="895376" y="83296"/>
                </a:cubicBezTo>
                <a:lnTo>
                  <a:pt x="89958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61" name="사각형: 둥근 모서리 2060">
            <a:extLst>
              <a:ext uri="{FF2B5EF4-FFF2-40B4-BE49-F238E27FC236}">
                <a16:creationId xmlns:a16="http://schemas.microsoft.com/office/drawing/2014/main" id="{5AF2AFE9-5399-047E-1D67-39C72BD64805}"/>
              </a:ext>
            </a:extLst>
          </p:cNvPr>
          <p:cNvSpPr/>
          <p:nvPr/>
        </p:nvSpPr>
        <p:spPr>
          <a:xfrm>
            <a:off x="5888241" y="6166486"/>
            <a:ext cx="180000" cy="18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62" name="사각형: 둥근 모서리 2061">
            <a:extLst>
              <a:ext uri="{FF2B5EF4-FFF2-40B4-BE49-F238E27FC236}">
                <a16:creationId xmlns:a16="http://schemas.microsoft.com/office/drawing/2014/main" id="{5E9B5994-B18F-4EB3-B003-F1564E97665F}"/>
              </a:ext>
            </a:extLst>
          </p:cNvPr>
          <p:cNvSpPr/>
          <p:nvPr/>
        </p:nvSpPr>
        <p:spPr>
          <a:xfrm>
            <a:off x="5888241" y="6442227"/>
            <a:ext cx="180000" cy="18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63" name="사각형: 둥근 모서리 2062">
            <a:extLst>
              <a:ext uri="{FF2B5EF4-FFF2-40B4-BE49-F238E27FC236}">
                <a16:creationId xmlns:a16="http://schemas.microsoft.com/office/drawing/2014/main" id="{B53211DD-4782-5AEC-203C-5FD33E8469D6}"/>
              </a:ext>
            </a:extLst>
          </p:cNvPr>
          <p:cNvSpPr/>
          <p:nvPr/>
        </p:nvSpPr>
        <p:spPr>
          <a:xfrm>
            <a:off x="5888241" y="6717969"/>
            <a:ext cx="180000" cy="180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6AF0E288-90D1-3312-78BB-E10C32D7D86C}"/>
              </a:ext>
            </a:extLst>
          </p:cNvPr>
          <p:cNvSpPr txBox="1"/>
          <p:nvPr/>
        </p:nvSpPr>
        <p:spPr>
          <a:xfrm>
            <a:off x="6051564" y="5786412"/>
            <a:ext cx="1134000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err="1"/>
              <a:t>할일</a:t>
            </a:r>
            <a:r>
              <a:rPr lang="ko-KR" altLang="en-US" sz="1200" dirty="0"/>
              <a:t> </a:t>
            </a:r>
            <a:r>
              <a:rPr lang="en-US" altLang="ko-KR" sz="1200" dirty="0"/>
              <a:t>: 78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진행중 </a:t>
            </a:r>
            <a:r>
              <a:rPr lang="en-US" altLang="ko-KR" sz="1200" dirty="0"/>
              <a:t>: 76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/>
              <a:t>검토중</a:t>
            </a:r>
            <a:r>
              <a:rPr lang="ko-KR" altLang="en-US" sz="1200" dirty="0"/>
              <a:t> </a:t>
            </a:r>
            <a:r>
              <a:rPr lang="en-US" altLang="ko-KR" sz="1200" dirty="0"/>
              <a:t>: 146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완료 </a:t>
            </a:r>
            <a:r>
              <a:rPr lang="en-US" altLang="ko-KR" sz="1200" dirty="0"/>
              <a:t>: 899</a:t>
            </a:r>
          </a:p>
        </p:txBody>
      </p:sp>
      <p:sp>
        <p:nvSpPr>
          <p:cNvPr id="2066" name="사각형: 둥근 모서리 2065">
            <a:extLst>
              <a:ext uri="{FF2B5EF4-FFF2-40B4-BE49-F238E27FC236}">
                <a16:creationId xmlns:a16="http://schemas.microsoft.com/office/drawing/2014/main" id="{A61D821D-53C3-CEE6-1ABD-8CF8AF3972B6}"/>
              </a:ext>
            </a:extLst>
          </p:cNvPr>
          <p:cNvSpPr/>
          <p:nvPr/>
        </p:nvSpPr>
        <p:spPr>
          <a:xfrm>
            <a:off x="148101" y="3057423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7" name="TextBox 2066">
            <a:extLst>
              <a:ext uri="{FF2B5EF4-FFF2-40B4-BE49-F238E27FC236}">
                <a16:creationId xmlns:a16="http://schemas.microsoft.com/office/drawing/2014/main" id="{C2CCDC77-DE30-8A82-A732-416A6CE29230}"/>
              </a:ext>
            </a:extLst>
          </p:cNvPr>
          <p:cNvSpPr txBox="1"/>
          <p:nvPr/>
        </p:nvSpPr>
        <p:spPr>
          <a:xfrm>
            <a:off x="7368448" y="5155979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u="sng" dirty="0">
                <a:solidFill>
                  <a:schemeClr val="bg1">
                    <a:lumMod val="50000"/>
                  </a:schemeClr>
                </a:solidFill>
              </a:rPr>
              <a:t>최근 항목</a:t>
            </a:r>
            <a:endParaRPr lang="en-US" altLang="ko-KR" sz="1400" b="1" u="sng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70" name="Picture 10" descr="Bell - Free music icons">
            <a:extLst>
              <a:ext uri="{FF2B5EF4-FFF2-40B4-BE49-F238E27FC236}">
                <a16:creationId xmlns:a16="http://schemas.microsoft.com/office/drawing/2014/main" id="{5B2DBEED-C777-B0DC-7FDB-E04670CE5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743" y="208197"/>
            <a:ext cx="287919" cy="25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1" name="Picture 2" descr="User icon icon | Premium AI-generated vector">
            <a:extLst>
              <a:ext uri="{FF2B5EF4-FFF2-40B4-BE49-F238E27FC236}">
                <a16:creationId xmlns:a16="http://schemas.microsoft.com/office/drawing/2014/main" id="{364D9C5A-6009-1145-2303-C4634E7AA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4431" y="131202"/>
            <a:ext cx="507640" cy="43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4" name="사각형: 둥근 모서리 2073">
            <a:extLst>
              <a:ext uri="{FF2B5EF4-FFF2-40B4-BE49-F238E27FC236}">
                <a16:creationId xmlns:a16="http://schemas.microsoft.com/office/drawing/2014/main" id="{E075F368-8B1F-475D-38D4-1DF2759DF917}"/>
              </a:ext>
            </a:extLst>
          </p:cNvPr>
          <p:cNvSpPr/>
          <p:nvPr/>
        </p:nvSpPr>
        <p:spPr>
          <a:xfrm>
            <a:off x="7313083" y="2348039"/>
            <a:ext cx="4702168" cy="2496040"/>
          </a:xfrm>
          <a:prstGeom prst="roundRect">
            <a:avLst>
              <a:gd name="adj" fmla="val 348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E38F85E-E64E-368F-2D7C-D9A3543E1013}"/>
              </a:ext>
            </a:extLst>
          </p:cNvPr>
          <p:cNvSpPr/>
          <p:nvPr/>
        </p:nvSpPr>
        <p:spPr>
          <a:xfrm>
            <a:off x="2444749" y="1417956"/>
            <a:ext cx="2268000" cy="8007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공정률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US" altLang="ko-KR" sz="1400" dirty="0">
                <a:solidFill>
                  <a:schemeClr val="tx1"/>
                </a:solidFill>
              </a:rPr>
              <a:t>87%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DCACD1F-A157-179D-F73B-57768AF0D911}"/>
              </a:ext>
            </a:extLst>
          </p:cNvPr>
          <p:cNvSpPr/>
          <p:nvPr/>
        </p:nvSpPr>
        <p:spPr>
          <a:xfrm>
            <a:off x="7313084" y="1417956"/>
            <a:ext cx="2268000" cy="8007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t>착공일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t>2025-02-18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9E697B6-C2A1-0CEF-48D4-4B2D8261B674}"/>
              </a:ext>
            </a:extLst>
          </p:cNvPr>
          <p:cNvSpPr/>
          <p:nvPr/>
        </p:nvSpPr>
        <p:spPr>
          <a:xfrm>
            <a:off x="9747251" y="1417956"/>
            <a:ext cx="2268000" cy="8007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t>준공일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t>2026-04-29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ABB795E-AA2F-8FA3-62BE-5E48CD146FE4}"/>
              </a:ext>
            </a:extLst>
          </p:cNvPr>
          <p:cNvSpPr/>
          <p:nvPr/>
        </p:nvSpPr>
        <p:spPr>
          <a:xfrm>
            <a:off x="4878916" y="1417956"/>
            <a:ext cx="2268000" cy="8007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white">
                    <a:lumMod val="50000"/>
                  </a:prstClr>
                </a:solidFill>
                <a:latin typeface="맑은 고딕" panose="020F0502020204030204"/>
                <a:ea typeface="맑은 고딕" panose="020B0503020000020004" pitchFamily="34" charset="-127"/>
              </a:rPr>
              <a:t>공사비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t>\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34" charset="-127"/>
              </a:rPr>
              <a:t>999,999,999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2078" name="그림 2077" descr="지도, 텍스트, 아틀라스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909DDA-3595-B79B-5DC0-41B20DB5CA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746" t="8676" b="8167"/>
          <a:stretch>
            <a:fillRect/>
          </a:stretch>
        </p:blipFill>
        <p:spPr>
          <a:xfrm>
            <a:off x="7368448" y="2357398"/>
            <a:ext cx="4569552" cy="2486681"/>
          </a:xfrm>
          <a:prstGeom prst="rect">
            <a:avLst/>
          </a:prstGeom>
        </p:spPr>
      </p:pic>
      <p:sp>
        <p:nvSpPr>
          <p:cNvPr id="2079" name="사각형: 둥근 모서리 2078">
            <a:extLst>
              <a:ext uri="{FF2B5EF4-FFF2-40B4-BE49-F238E27FC236}">
                <a16:creationId xmlns:a16="http://schemas.microsoft.com/office/drawing/2014/main" id="{9F4385C6-8F3A-FED2-2A4A-96316705F7C9}"/>
              </a:ext>
            </a:extLst>
          </p:cNvPr>
          <p:cNvSpPr/>
          <p:nvPr/>
        </p:nvSpPr>
        <p:spPr>
          <a:xfrm>
            <a:off x="7287922" y="5074492"/>
            <a:ext cx="4702168" cy="2607621"/>
          </a:xfrm>
          <a:prstGeom prst="roundRect">
            <a:avLst>
              <a:gd name="adj" fmla="val 348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      </a:t>
            </a:r>
            <a:r>
              <a:rPr lang="en-US" altLang="ko-KR" sz="1400" dirty="0">
                <a:solidFill>
                  <a:schemeClr val="tx1"/>
                </a:solidFill>
              </a:rPr>
              <a:t>01_101</a:t>
            </a:r>
            <a:r>
              <a:rPr lang="ko-KR" altLang="en-US" sz="1400" dirty="0">
                <a:solidFill>
                  <a:schemeClr val="tx1"/>
                </a:solidFill>
              </a:rPr>
              <a:t>동 지상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층 평면도                 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Timestamp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      </a:t>
            </a:r>
            <a:r>
              <a:rPr lang="en-US" altLang="ko-KR" sz="1400" dirty="0">
                <a:solidFill>
                  <a:schemeClr val="tx1"/>
                </a:solidFill>
              </a:rPr>
              <a:t>[issue#33] </a:t>
            </a:r>
            <a:r>
              <a:rPr lang="ko-KR" altLang="en-US" sz="1400" dirty="0">
                <a:solidFill>
                  <a:schemeClr val="tx1"/>
                </a:solidFill>
              </a:rPr>
              <a:t>구조 보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</a:rPr>
              <a:t>덕트</a:t>
            </a:r>
            <a:r>
              <a:rPr lang="ko-KR" altLang="en-US" sz="1400" dirty="0">
                <a:solidFill>
                  <a:schemeClr val="tx1"/>
                </a:solidFill>
              </a:rPr>
              <a:t> 간섭            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Timestamp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537EB-21EC-1756-710E-AF23F4538892}"/>
              </a:ext>
            </a:extLst>
          </p:cNvPr>
          <p:cNvSpPr txBox="1"/>
          <p:nvPr/>
        </p:nvSpPr>
        <p:spPr>
          <a:xfrm>
            <a:off x="8533546" y="515597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북마크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7AD7C9B-3E21-1BCD-640F-417D42D189C8}"/>
              </a:ext>
            </a:extLst>
          </p:cNvPr>
          <p:cNvSpPr/>
          <p:nvPr/>
        </p:nvSpPr>
        <p:spPr>
          <a:xfrm>
            <a:off x="7415100" y="5554082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D25943-E5C9-4B02-CA5D-9C2009A2B341}"/>
              </a:ext>
            </a:extLst>
          </p:cNvPr>
          <p:cNvSpPr/>
          <p:nvPr/>
        </p:nvSpPr>
        <p:spPr>
          <a:xfrm>
            <a:off x="7415100" y="5980745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5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CAA8-E36C-5AAA-B6AD-8FBBC205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그림 3072">
            <a:extLst>
              <a:ext uri="{FF2B5EF4-FFF2-40B4-BE49-F238E27FC236}">
                <a16:creationId xmlns:a16="http://schemas.microsoft.com/office/drawing/2014/main" id="{6CD6568E-C244-BC57-D042-9A7A54F4D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801" y="1841765"/>
            <a:ext cx="6877949" cy="4952736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A09C5F-EEED-7459-7C68-75B07C9D1B4F}"/>
              </a:ext>
            </a:extLst>
          </p:cNvPr>
          <p:cNvCxnSpPr/>
          <p:nvPr/>
        </p:nvCxnSpPr>
        <p:spPr>
          <a:xfrm>
            <a:off x="-57150" y="673100"/>
            <a:ext cx="12249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3DEB89E-8782-1AC0-DB0A-A81F13581E8E}"/>
              </a:ext>
            </a:extLst>
          </p:cNvPr>
          <p:cNvSpPr/>
          <p:nvPr/>
        </p:nvSpPr>
        <p:spPr>
          <a:xfrm>
            <a:off x="2241498" y="197923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850B54-EC50-7B1A-49C2-3319EB7D6607}"/>
              </a:ext>
            </a:extLst>
          </p:cNvPr>
          <p:cNvSpPr txBox="1"/>
          <p:nvPr/>
        </p:nvSpPr>
        <p:spPr>
          <a:xfrm>
            <a:off x="2576150" y="147734"/>
            <a:ext cx="416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Demo Project – </a:t>
            </a:r>
            <a:r>
              <a:rPr lang="ko-KR" altLang="en-US" dirty="0"/>
              <a:t>마곡동 주민공동시설</a:t>
            </a: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37EE3FB6-86C7-C5E5-AD5A-537FB8E0272E}"/>
              </a:ext>
            </a:extLst>
          </p:cNvPr>
          <p:cNvSpPr/>
          <p:nvPr/>
        </p:nvSpPr>
        <p:spPr>
          <a:xfrm>
            <a:off x="694047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706E95-B922-1CC5-5CE6-76D73CA28FE4}"/>
              </a:ext>
            </a:extLst>
          </p:cNvPr>
          <p:cNvSpPr txBox="1"/>
          <p:nvPr/>
        </p:nvSpPr>
        <p:spPr>
          <a:xfrm>
            <a:off x="10756900" y="147734"/>
            <a:ext cx="212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양승호</a:t>
            </a:r>
            <a:endParaRPr lang="ko-KR" altLang="en-US" dirty="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4A9A8F00-910E-704F-DA4C-DDF75761BB6A}"/>
              </a:ext>
            </a:extLst>
          </p:cNvPr>
          <p:cNvSpPr/>
          <p:nvPr/>
        </p:nvSpPr>
        <p:spPr>
          <a:xfrm>
            <a:off x="1176652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A3B0069-44AD-9C70-935E-C9C8B38F136A}"/>
              </a:ext>
            </a:extLst>
          </p:cNvPr>
          <p:cNvCxnSpPr>
            <a:cxnSpLocks/>
          </p:cNvCxnSpPr>
          <p:nvPr/>
        </p:nvCxnSpPr>
        <p:spPr>
          <a:xfrm>
            <a:off x="201295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9142D39-23B7-6328-4F87-A3C35791B9D7}"/>
              </a:ext>
            </a:extLst>
          </p:cNvPr>
          <p:cNvSpPr/>
          <p:nvPr/>
        </p:nvSpPr>
        <p:spPr>
          <a:xfrm>
            <a:off x="5685226" y="1525434"/>
            <a:ext cx="5108154" cy="360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건축 </a:t>
            </a:r>
            <a:r>
              <a:rPr lang="en-US" altLang="ko-KR" dirty="0"/>
              <a:t>&gt; 01_101</a:t>
            </a:r>
            <a:r>
              <a:rPr lang="ko-KR" altLang="en-US" dirty="0"/>
              <a:t>동 지상</a:t>
            </a:r>
            <a:r>
              <a:rPr lang="en-US" altLang="ko-KR" dirty="0"/>
              <a:t>1</a:t>
            </a:r>
            <a:r>
              <a:rPr lang="ko-KR" altLang="en-US" dirty="0"/>
              <a:t>층 평면도</a:t>
            </a:r>
          </a:p>
        </p:txBody>
      </p:sp>
      <p:pic>
        <p:nvPicPr>
          <p:cNvPr id="24" name="그림 23" descr="폰트, 로고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103480-1FAC-04A0-0925-770F533EF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61" y="60858"/>
            <a:ext cx="1570488" cy="5621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73E2FCF-1CD9-B9B7-9A2B-D5A0A1CC0665}"/>
              </a:ext>
            </a:extLst>
          </p:cNvPr>
          <p:cNvSpPr txBox="1"/>
          <p:nvPr/>
        </p:nvSpPr>
        <p:spPr>
          <a:xfrm>
            <a:off x="495300" y="888982"/>
            <a:ext cx="151765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대시보드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도면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이슈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사진대지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멤버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보안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4B6C958-9954-8CFA-1EA3-16E7C396B9CF}"/>
              </a:ext>
            </a:extLst>
          </p:cNvPr>
          <p:cNvSpPr/>
          <p:nvPr/>
        </p:nvSpPr>
        <p:spPr>
          <a:xfrm>
            <a:off x="148101" y="1008089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425EEC8-F8F4-F101-93B3-0A6C1C26DE9D}"/>
              </a:ext>
            </a:extLst>
          </p:cNvPr>
          <p:cNvSpPr/>
          <p:nvPr/>
        </p:nvSpPr>
        <p:spPr>
          <a:xfrm>
            <a:off x="148101" y="1417956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C2568C9-EAB8-5229-2A0E-DBFA9728310F}"/>
              </a:ext>
            </a:extLst>
          </p:cNvPr>
          <p:cNvSpPr/>
          <p:nvPr/>
        </p:nvSpPr>
        <p:spPr>
          <a:xfrm>
            <a:off x="148101" y="1827823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F4B6616-506A-B0B4-78AA-415EA708E559}"/>
              </a:ext>
            </a:extLst>
          </p:cNvPr>
          <p:cNvSpPr/>
          <p:nvPr/>
        </p:nvSpPr>
        <p:spPr>
          <a:xfrm>
            <a:off x="148101" y="2237690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8D06509-E60D-0AEB-B359-49EB3CBD1B21}"/>
              </a:ext>
            </a:extLst>
          </p:cNvPr>
          <p:cNvSpPr/>
          <p:nvPr/>
        </p:nvSpPr>
        <p:spPr>
          <a:xfrm>
            <a:off x="148101" y="3057423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7AD2CE3-A53B-2F24-404F-4E41AB85803C}"/>
              </a:ext>
            </a:extLst>
          </p:cNvPr>
          <p:cNvSpPr/>
          <p:nvPr/>
        </p:nvSpPr>
        <p:spPr>
          <a:xfrm>
            <a:off x="148101" y="2647557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F3D87-AA00-0FC8-FE07-A3540441A4C9}"/>
              </a:ext>
            </a:extLst>
          </p:cNvPr>
          <p:cNvSpPr txBox="1"/>
          <p:nvPr/>
        </p:nvSpPr>
        <p:spPr>
          <a:xfrm>
            <a:off x="2564197" y="2708315"/>
            <a:ext cx="3011101" cy="310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건축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00_</a:t>
            </a:r>
            <a:r>
              <a:rPr lang="ko-KR" altLang="en-US" sz="1200" dirty="0"/>
              <a:t>전체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01_101</a:t>
            </a:r>
            <a:r>
              <a:rPr lang="ko-KR" altLang="en-US" sz="1200" dirty="0"/>
              <a:t>동 지상</a:t>
            </a:r>
            <a:r>
              <a:rPr lang="en-US" altLang="ko-KR" sz="1200" dirty="0"/>
              <a:t>1</a:t>
            </a:r>
            <a:r>
              <a:rPr lang="ko-KR" altLang="en-US" sz="1200" dirty="0"/>
              <a:t>층 평면도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02_</a:t>
            </a:r>
            <a:r>
              <a:rPr lang="ko-KR" altLang="en-US" sz="1200" dirty="0"/>
              <a:t>지상</a:t>
            </a:r>
            <a:r>
              <a:rPr lang="en-US" altLang="ko-KR" sz="1200" dirty="0"/>
              <a:t>1</a:t>
            </a:r>
            <a:r>
              <a:rPr lang="ko-KR" altLang="en-US" sz="1200" dirty="0"/>
              <a:t>층 주민공동시설 평면도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…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구조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01_101</a:t>
            </a:r>
            <a:r>
              <a:rPr lang="ko-KR" altLang="en-US" sz="1200" dirty="0"/>
              <a:t>동 지상</a:t>
            </a:r>
            <a:r>
              <a:rPr lang="en-US" altLang="ko-KR" sz="1200" dirty="0"/>
              <a:t>1</a:t>
            </a:r>
            <a:r>
              <a:rPr lang="ko-KR" altLang="en-US" sz="1200" dirty="0"/>
              <a:t>층 구조평면도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  </a:t>
            </a:r>
            <a:r>
              <a:rPr lang="en-US" altLang="ko-KR" sz="1200" dirty="0"/>
              <a:t>02_</a:t>
            </a:r>
            <a:r>
              <a:rPr lang="ko-KR" altLang="en-US" sz="1200" dirty="0"/>
              <a:t>지상</a:t>
            </a:r>
            <a:r>
              <a:rPr lang="en-US" altLang="ko-KR" sz="1200" dirty="0"/>
              <a:t>1</a:t>
            </a:r>
            <a:r>
              <a:rPr lang="ko-KR" altLang="en-US" sz="1200" dirty="0"/>
              <a:t>층 주민공동시설 구조평면도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…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전기</a:t>
            </a:r>
          </a:p>
          <a:p>
            <a:pPr>
              <a:lnSpc>
                <a:spcPct val="150000"/>
              </a:lnSpc>
            </a:pP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CD487-6979-C06D-296F-69F54D719566}"/>
              </a:ext>
            </a:extLst>
          </p:cNvPr>
          <p:cNvSpPr txBox="1"/>
          <p:nvPr/>
        </p:nvSpPr>
        <p:spPr>
          <a:xfrm>
            <a:off x="2417777" y="1513593"/>
            <a:ext cx="802126" cy="333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전체</a:t>
            </a:r>
            <a:endParaRPr lang="en-US" altLang="ko-KR" sz="1200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E1196AE5-85F3-00D7-67BC-15DE8958B8D7}"/>
              </a:ext>
            </a:extLst>
          </p:cNvPr>
          <p:cNvSpPr/>
          <p:nvPr/>
        </p:nvSpPr>
        <p:spPr>
          <a:xfrm>
            <a:off x="2944207" y="1635460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5941785A-669F-4814-063C-8C3F8C53B4F7}"/>
              </a:ext>
            </a:extLst>
          </p:cNvPr>
          <p:cNvSpPr/>
          <p:nvPr/>
        </p:nvSpPr>
        <p:spPr>
          <a:xfrm>
            <a:off x="2495551" y="2855064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FA5C0394-B9DE-7DC9-0D55-DABF7E56E349}"/>
              </a:ext>
            </a:extLst>
          </p:cNvPr>
          <p:cNvSpPr/>
          <p:nvPr/>
        </p:nvSpPr>
        <p:spPr>
          <a:xfrm>
            <a:off x="2495551" y="4229350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0F36494-8B6F-E38F-DFF4-FF2559F7EAD5}"/>
              </a:ext>
            </a:extLst>
          </p:cNvPr>
          <p:cNvSpPr/>
          <p:nvPr/>
        </p:nvSpPr>
        <p:spPr>
          <a:xfrm>
            <a:off x="2664898" y="3314540"/>
            <a:ext cx="2707202" cy="2658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3" name="Picture 10" descr="Bell - Free music icons">
            <a:extLst>
              <a:ext uri="{FF2B5EF4-FFF2-40B4-BE49-F238E27FC236}">
                <a16:creationId xmlns:a16="http://schemas.microsoft.com/office/drawing/2014/main" id="{6E28BB7D-44CD-8A42-6539-B9CE9F50C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743" y="208197"/>
            <a:ext cx="287919" cy="25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User icon icon | Premium AI-generated vector">
            <a:extLst>
              <a:ext uri="{FF2B5EF4-FFF2-40B4-BE49-F238E27FC236}">
                <a16:creationId xmlns:a16="http://schemas.microsoft.com/office/drawing/2014/main" id="{E857E0C9-C493-8A4A-2662-AB494CA21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4431" y="131202"/>
            <a:ext cx="507640" cy="43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2695D7AA-BB43-6615-74EB-6BA72895A000}"/>
              </a:ext>
            </a:extLst>
          </p:cNvPr>
          <p:cNvGrpSpPr/>
          <p:nvPr/>
        </p:nvGrpSpPr>
        <p:grpSpPr>
          <a:xfrm>
            <a:off x="6893203" y="3524372"/>
            <a:ext cx="282301" cy="282301"/>
            <a:chOff x="7871042" y="747831"/>
            <a:chExt cx="282301" cy="282301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265B6C8-AA10-267C-C752-07C8EE3C1890}"/>
                </a:ext>
              </a:extLst>
            </p:cNvPr>
            <p:cNvSpPr/>
            <p:nvPr/>
          </p:nvSpPr>
          <p:spPr>
            <a:xfrm>
              <a:off x="7871042" y="747831"/>
              <a:ext cx="282301" cy="28230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0F3C310-7A1C-3767-F56A-861685BB0EEA}"/>
                </a:ext>
              </a:extLst>
            </p:cNvPr>
            <p:cNvSpPr/>
            <p:nvPr/>
          </p:nvSpPr>
          <p:spPr>
            <a:xfrm>
              <a:off x="7963592" y="785551"/>
              <a:ext cx="97200" cy="97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264BA06D-FE9B-39FF-95D7-6300D2922FBD}"/>
                </a:ext>
              </a:extLst>
            </p:cNvPr>
            <p:cNvSpPr/>
            <p:nvPr/>
          </p:nvSpPr>
          <p:spPr>
            <a:xfrm>
              <a:off x="7930114" y="892171"/>
              <a:ext cx="164156" cy="130286"/>
            </a:xfrm>
            <a:custGeom>
              <a:avLst/>
              <a:gdLst>
                <a:gd name="csX0" fmla="*/ 98097 w 196194"/>
                <a:gd name="csY0" fmla="*/ 0 h 155714"/>
                <a:gd name="csX1" fmla="*/ 196194 w 196194"/>
                <a:gd name="csY1" fmla="*/ 98097 h 155714"/>
                <a:gd name="csX2" fmla="*/ 192121 w 196194"/>
                <a:gd name="csY2" fmla="*/ 118273 h 155714"/>
                <a:gd name="csX3" fmla="*/ 153041 w 196194"/>
                <a:gd name="csY3" fmla="*/ 144622 h 155714"/>
                <a:gd name="csX4" fmla="*/ 98098 w 196194"/>
                <a:gd name="csY4" fmla="*/ 155714 h 155714"/>
                <a:gd name="csX5" fmla="*/ 43156 w 196194"/>
                <a:gd name="csY5" fmla="*/ 144622 h 155714"/>
                <a:gd name="csX6" fmla="*/ 4073 w 196194"/>
                <a:gd name="csY6" fmla="*/ 118272 h 155714"/>
                <a:gd name="csX7" fmla="*/ 0 w 196194"/>
                <a:gd name="csY7" fmla="*/ 98097 h 155714"/>
                <a:gd name="csX8" fmla="*/ 98097 w 196194"/>
                <a:gd name="csY8" fmla="*/ 0 h 15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6194" h="155714">
                  <a:moveTo>
                    <a:pt x="98097" y="0"/>
                  </a:moveTo>
                  <a:cubicBezTo>
                    <a:pt x="152274" y="0"/>
                    <a:pt x="196194" y="43920"/>
                    <a:pt x="196194" y="98097"/>
                  </a:cubicBezTo>
                  <a:lnTo>
                    <a:pt x="192121" y="118273"/>
                  </a:lnTo>
                  <a:lnTo>
                    <a:pt x="153041" y="144622"/>
                  </a:lnTo>
                  <a:cubicBezTo>
                    <a:pt x="136154" y="151764"/>
                    <a:pt x="117587" y="155714"/>
                    <a:pt x="98098" y="155714"/>
                  </a:cubicBezTo>
                  <a:cubicBezTo>
                    <a:pt x="78609" y="155714"/>
                    <a:pt x="60043" y="151764"/>
                    <a:pt x="43156" y="144622"/>
                  </a:cubicBezTo>
                  <a:lnTo>
                    <a:pt x="4073" y="118272"/>
                  </a:lnTo>
                  <a:lnTo>
                    <a:pt x="0" y="98097"/>
                  </a:lnTo>
                  <a:cubicBezTo>
                    <a:pt x="0" y="43920"/>
                    <a:pt x="43920" y="0"/>
                    <a:pt x="98097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430513C-6D4A-D093-5C6D-2357B438CE27}"/>
              </a:ext>
            </a:extLst>
          </p:cNvPr>
          <p:cNvGrpSpPr/>
          <p:nvPr/>
        </p:nvGrpSpPr>
        <p:grpSpPr>
          <a:xfrm>
            <a:off x="8357932" y="4513518"/>
            <a:ext cx="1288780" cy="565575"/>
            <a:chOff x="9148498" y="3592255"/>
            <a:chExt cx="1288780" cy="565575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1EF7C378-5A8B-988E-02E9-4D9501C61CC8}"/>
                </a:ext>
              </a:extLst>
            </p:cNvPr>
            <p:cNvSpPr/>
            <p:nvPr/>
          </p:nvSpPr>
          <p:spPr>
            <a:xfrm>
              <a:off x="9377127" y="3592255"/>
              <a:ext cx="1060151" cy="56557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800" dirty="0">
                  <a:solidFill>
                    <a:schemeClr val="tx1"/>
                  </a:solidFill>
                </a:rPr>
                <a:t>[Issue#33]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</a:rPr>
                <a:t>구조보</a:t>
              </a:r>
              <a:r>
                <a:rPr lang="en-US" altLang="ko-KR" sz="800" dirty="0">
                  <a:solidFill>
                    <a:schemeClr val="tx1"/>
                  </a:solidFill>
                </a:rPr>
                <a:t>, </a:t>
              </a:r>
              <a:r>
                <a:rPr lang="ko-KR" altLang="en-US" sz="800" dirty="0" err="1">
                  <a:solidFill>
                    <a:schemeClr val="tx1"/>
                  </a:solidFill>
                </a:rPr>
                <a:t>덕트</a:t>
              </a:r>
              <a:r>
                <a:rPr lang="ko-KR" altLang="en-US" sz="800" dirty="0">
                  <a:solidFill>
                    <a:schemeClr val="tx1"/>
                  </a:solidFill>
                </a:rPr>
                <a:t> 간섭</a:t>
              </a: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EB9B6C1-3992-0FBA-C3EE-52AA3591CB07}"/>
                </a:ext>
              </a:extLst>
            </p:cNvPr>
            <p:cNvGrpSpPr/>
            <p:nvPr/>
          </p:nvGrpSpPr>
          <p:grpSpPr>
            <a:xfrm>
              <a:off x="9148498" y="3592256"/>
              <a:ext cx="282301" cy="282301"/>
              <a:chOff x="7871042" y="747831"/>
              <a:chExt cx="282301" cy="282301"/>
            </a:xfrm>
          </p:grpSpPr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C3692278-7A91-6CF4-CF92-339C5697A860}"/>
                  </a:ext>
                </a:extLst>
              </p:cNvPr>
              <p:cNvSpPr/>
              <p:nvPr/>
            </p:nvSpPr>
            <p:spPr>
              <a:xfrm>
                <a:off x="7871042" y="747831"/>
                <a:ext cx="282301" cy="28230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24AAD488-C82E-EA7B-A963-2FC7C101F678}"/>
                  </a:ext>
                </a:extLst>
              </p:cNvPr>
              <p:cNvSpPr/>
              <p:nvPr/>
            </p:nvSpPr>
            <p:spPr>
              <a:xfrm>
                <a:off x="7963592" y="785551"/>
                <a:ext cx="97200" cy="972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913F8B8D-51B4-292A-FCFC-5D65C95D64D2}"/>
                  </a:ext>
                </a:extLst>
              </p:cNvPr>
              <p:cNvSpPr/>
              <p:nvPr/>
            </p:nvSpPr>
            <p:spPr>
              <a:xfrm>
                <a:off x="7930114" y="892171"/>
                <a:ext cx="164156" cy="130286"/>
              </a:xfrm>
              <a:custGeom>
                <a:avLst/>
                <a:gdLst>
                  <a:gd name="csX0" fmla="*/ 98097 w 196194"/>
                  <a:gd name="csY0" fmla="*/ 0 h 155714"/>
                  <a:gd name="csX1" fmla="*/ 196194 w 196194"/>
                  <a:gd name="csY1" fmla="*/ 98097 h 155714"/>
                  <a:gd name="csX2" fmla="*/ 192121 w 196194"/>
                  <a:gd name="csY2" fmla="*/ 118273 h 155714"/>
                  <a:gd name="csX3" fmla="*/ 153041 w 196194"/>
                  <a:gd name="csY3" fmla="*/ 144622 h 155714"/>
                  <a:gd name="csX4" fmla="*/ 98098 w 196194"/>
                  <a:gd name="csY4" fmla="*/ 155714 h 155714"/>
                  <a:gd name="csX5" fmla="*/ 43156 w 196194"/>
                  <a:gd name="csY5" fmla="*/ 144622 h 155714"/>
                  <a:gd name="csX6" fmla="*/ 4073 w 196194"/>
                  <a:gd name="csY6" fmla="*/ 118272 h 155714"/>
                  <a:gd name="csX7" fmla="*/ 0 w 196194"/>
                  <a:gd name="csY7" fmla="*/ 98097 h 155714"/>
                  <a:gd name="csX8" fmla="*/ 98097 w 196194"/>
                  <a:gd name="csY8" fmla="*/ 0 h 1557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96194" h="155714">
                    <a:moveTo>
                      <a:pt x="98097" y="0"/>
                    </a:moveTo>
                    <a:cubicBezTo>
                      <a:pt x="152274" y="0"/>
                      <a:pt x="196194" y="43920"/>
                      <a:pt x="196194" y="98097"/>
                    </a:cubicBezTo>
                    <a:lnTo>
                      <a:pt x="192121" y="118273"/>
                    </a:lnTo>
                    <a:lnTo>
                      <a:pt x="153041" y="144622"/>
                    </a:lnTo>
                    <a:cubicBezTo>
                      <a:pt x="136154" y="151764"/>
                      <a:pt x="117587" y="155714"/>
                      <a:pt x="98098" y="155714"/>
                    </a:cubicBezTo>
                    <a:cubicBezTo>
                      <a:pt x="78609" y="155714"/>
                      <a:pt x="60043" y="151764"/>
                      <a:pt x="43156" y="144622"/>
                    </a:cubicBezTo>
                    <a:lnTo>
                      <a:pt x="4073" y="118272"/>
                    </a:lnTo>
                    <a:lnTo>
                      <a:pt x="0" y="98097"/>
                    </a:lnTo>
                    <a:cubicBezTo>
                      <a:pt x="0" y="43920"/>
                      <a:pt x="43920" y="0"/>
                      <a:pt x="98097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B376FFEB-A6B1-43F3-A942-75AA92C70FA5}"/>
                </a:ext>
              </a:extLst>
            </p:cNvPr>
            <p:cNvSpPr/>
            <p:nvPr/>
          </p:nvSpPr>
          <p:spPr>
            <a:xfrm>
              <a:off x="9581661" y="3930336"/>
              <a:ext cx="651081" cy="173013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이슈 보기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BC73E2D-AA01-620C-8CCD-57916560D185}"/>
              </a:ext>
            </a:extLst>
          </p:cNvPr>
          <p:cNvSpPr txBox="1"/>
          <p:nvPr/>
        </p:nvSpPr>
        <p:spPr>
          <a:xfrm>
            <a:off x="10961076" y="1552770"/>
            <a:ext cx="1185478" cy="273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dirty="0"/>
              <a:t>이슈 </a:t>
            </a:r>
            <a:r>
              <a:rPr lang="en-US" altLang="ko-KR" sz="900" dirty="0"/>
              <a:t>on/off </a:t>
            </a:r>
            <a:r>
              <a:rPr lang="ko-KR" altLang="en-US" sz="900" dirty="0" err="1"/>
              <a:t>토글</a:t>
            </a:r>
            <a:endParaRPr lang="en-US" altLang="ko-KR" sz="9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5629AFC-31E1-1C77-3212-0149BA42E1B7}"/>
              </a:ext>
            </a:extLst>
          </p:cNvPr>
          <p:cNvGrpSpPr/>
          <p:nvPr/>
        </p:nvGrpSpPr>
        <p:grpSpPr>
          <a:xfrm>
            <a:off x="2324100" y="1980919"/>
            <a:ext cx="3218375" cy="666982"/>
            <a:chOff x="2044700" y="1539138"/>
            <a:chExt cx="3218375" cy="666982"/>
          </a:xfrm>
        </p:grpSpPr>
        <p:pic>
          <p:nvPicPr>
            <p:cNvPr id="3078" name="Picture 6" descr="Free vector upload icon png - Pixsector">
              <a:extLst>
                <a:ext uri="{FF2B5EF4-FFF2-40B4-BE49-F238E27FC236}">
                  <a16:creationId xmlns:a16="http://schemas.microsoft.com/office/drawing/2014/main" id="{200C80CE-1125-ADA9-B267-AECD31572A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25" t="17870" r="24659" b="19580"/>
            <a:stretch>
              <a:fillRect/>
            </a:stretch>
          </p:blipFill>
          <p:spPr bwMode="auto">
            <a:xfrm>
              <a:off x="2235067" y="1584204"/>
              <a:ext cx="334648" cy="395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Free download icon png - Pixsector">
              <a:extLst>
                <a:ext uri="{FF2B5EF4-FFF2-40B4-BE49-F238E27FC236}">
                  <a16:creationId xmlns:a16="http://schemas.microsoft.com/office/drawing/2014/main" id="{178C5758-CEF3-F42B-2C59-B777784BDF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99" t="21097" r="19042" b="17525"/>
            <a:stretch>
              <a:fillRect/>
            </a:stretch>
          </p:blipFill>
          <p:spPr bwMode="auto">
            <a:xfrm>
              <a:off x="2854793" y="1608232"/>
              <a:ext cx="376661" cy="388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4" name="Picture 12" descr="Revision Glyph Icon Illustration Vector ...">
              <a:extLst>
                <a:ext uri="{FF2B5EF4-FFF2-40B4-BE49-F238E27FC236}">
                  <a16:creationId xmlns:a16="http://schemas.microsoft.com/office/drawing/2014/main" id="{F1970EB1-B509-26BF-1766-523EE76554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6532" y="1607414"/>
              <a:ext cx="332462" cy="3491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6" name="Picture 14" descr="Delete Icon SVG Vector &amp; PNG Free ...">
              <a:extLst>
                <a:ext uri="{FF2B5EF4-FFF2-40B4-BE49-F238E27FC236}">
                  <a16:creationId xmlns:a16="http://schemas.microsoft.com/office/drawing/2014/main" id="{704B44A5-73C0-FD7A-8A14-B8D3038B0E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4072" y="1623939"/>
              <a:ext cx="271699" cy="316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8" name="Picture 16" descr="Black compare icon - Free black compare ...">
              <a:extLst>
                <a:ext uri="{FF2B5EF4-FFF2-40B4-BE49-F238E27FC236}">
                  <a16:creationId xmlns:a16="http://schemas.microsoft.com/office/drawing/2014/main" id="{5D0345FB-7C84-B96D-5E4F-F03667EF2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0850" y="1577299"/>
              <a:ext cx="409390" cy="409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77" name="TextBox 3076">
              <a:extLst>
                <a:ext uri="{FF2B5EF4-FFF2-40B4-BE49-F238E27FC236}">
                  <a16:creationId xmlns:a16="http://schemas.microsoft.com/office/drawing/2014/main" id="{B35930E0-6406-7DDF-2B16-1962D9FC6AC8}"/>
                </a:ext>
              </a:extLst>
            </p:cNvPr>
            <p:cNvSpPr txBox="1"/>
            <p:nvPr/>
          </p:nvSpPr>
          <p:spPr>
            <a:xfrm>
              <a:off x="2044700" y="1959573"/>
              <a:ext cx="73223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Upload</a:t>
              </a:r>
              <a:endParaRPr lang="en-US" altLang="ko-KR" sz="105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79" name="TextBox 3078">
              <a:extLst>
                <a:ext uri="{FF2B5EF4-FFF2-40B4-BE49-F238E27FC236}">
                  <a16:creationId xmlns:a16="http://schemas.microsoft.com/office/drawing/2014/main" id="{DE757BE3-118F-0132-7B46-73420E9847CF}"/>
                </a:ext>
              </a:extLst>
            </p:cNvPr>
            <p:cNvSpPr txBox="1"/>
            <p:nvPr/>
          </p:nvSpPr>
          <p:spPr>
            <a:xfrm>
              <a:off x="2635069" y="1959573"/>
              <a:ext cx="7854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Download</a:t>
              </a:r>
              <a:endParaRPr lang="en-US" altLang="ko-KR" sz="105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81" name="TextBox 3080">
              <a:extLst>
                <a:ext uri="{FF2B5EF4-FFF2-40B4-BE49-F238E27FC236}">
                  <a16:creationId xmlns:a16="http://schemas.microsoft.com/office/drawing/2014/main" id="{D9FCF38B-166C-5FD3-DFE4-9E5EB4915296}"/>
                </a:ext>
              </a:extLst>
            </p:cNvPr>
            <p:cNvSpPr txBox="1"/>
            <p:nvPr/>
          </p:nvSpPr>
          <p:spPr>
            <a:xfrm>
              <a:off x="3273458" y="1959573"/>
              <a:ext cx="7854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Update</a:t>
              </a:r>
              <a:endParaRPr lang="en-US" altLang="ko-KR" sz="105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83" name="TextBox 3082">
              <a:extLst>
                <a:ext uri="{FF2B5EF4-FFF2-40B4-BE49-F238E27FC236}">
                  <a16:creationId xmlns:a16="http://schemas.microsoft.com/office/drawing/2014/main" id="{F0F2A837-B712-B899-CBD8-B7B51B5C8679}"/>
                </a:ext>
              </a:extLst>
            </p:cNvPr>
            <p:cNvSpPr txBox="1"/>
            <p:nvPr/>
          </p:nvSpPr>
          <p:spPr>
            <a:xfrm>
              <a:off x="3868058" y="1959573"/>
              <a:ext cx="7854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Delete</a:t>
              </a:r>
              <a:endParaRPr lang="en-US" altLang="ko-KR" sz="105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85" name="TextBox 3084">
              <a:extLst>
                <a:ext uri="{FF2B5EF4-FFF2-40B4-BE49-F238E27FC236}">
                  <a16:creationId xmlns:a16="http://schemas.microsoft.com/office/drawing/2014/main" id="{D942ABE8-0DC1-8899-82F2-63863B7AFF07}"/>
                </a:ext>
              </a:extLst>
            </p:cNvPr>
            <p:cNvSpPr txBox="1"/>
            <p:nvPr/>
          </p:nvSpPr>
          <p:spPr>
            <a:xfrm>
              <a:off x="4477639" y="1959573"/>
              <a:ext cx="78543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Compare</a:t>
              </a:r>
              <a:endParaRPr lang="en-US" altLang="ko-KR" sz="105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87" name="직사각형 3086">
              <a:extLst>
                <a:ext uri="{FF2B5EF4-FFF2-40B4-BE49-F238E27FC236}">
                  <a16:creationId xmlns:a16="http://schemas.microsoft.com/office/drawing/2014/main" id="{3B1F67E6-DE19-BDF3-63FC-D6C2809545A7}"/>
                </a:ext>
              </a:extLst>
            </p:cNvPr>
            <p:cNvSpPr/>
            <p:nvPr/>
          </p:nvSpPr>
          <p:spPr>
            <a:xfrm>
              <a:off x="2133600" y="1539138"/>
              <a:ext cx="3129472" cy="6669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4EE382-9CDE-56C3-CF40-720C9F4BF02C}"/>
              </a:ext>
            </a:extLst>
          </p:cNvPr>
          <p:cNvSpPr/>
          <p:nvPr/>
        </p:nvSpPr>
        <p:spPr>
          <a:xfrm>
            <a:off x="2413000" y="2647557"/>
            <a:ext cx="3129472" cy="4012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57F3ADF0-6BA5-93B9-939F-C999D46F849F}"/>
              </a:ext>
            </a:extLst>
          </p:cNvPr>
          <p:cNvSpPr/>
          <p:nvPr/>
        </p:nvSpPr>
        <p:spPr>
          <a:xfrm rot="16200000">
            <a:off x="2495551" y="5298670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723194E-4B79-A7E2-8A06-DFB25DBDB0F9}"/>
              </a:ext>
            </a:extLst>
          </p:cNvPr>
          <p:cNvGrpSpPr/>
          <p:nvPr/>
        </p:nvGrpSpPr>
        <p:grpSpPr>
          <a:xfrm>
            <a:off x="8142939" y="6154457"/>
            <a:ext cx="1636061" cy="360000"/>
            <a:chOff x="7763632" y="6125633"/>
            <a:chExt cx="1636061" cy="360000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E64B70B1-21D0-4538-284E-A3D7CB67269F}"/>
                </a:ext>
              </a:extLst>
            </p:cNvPr>
            <p:cNvSpPr/>
            <p:nvPr/>
          </p:nvSpPr>
          <p:spPr>
            <a:xfrm>
              <a:off x="7763632" y="6125633"/>
              <a:ext cx="1636061" cy="360000"/>
            </a:xfrm>
            <a:prstGeom prst="round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Picture 6" descr="941,100+ Hand Icon Stock Illustrations ...">
              <a:extLst>
                <a:ext uri="{FF2B5EF4-FFF2-40B4-BE49-F238E27FC236}">
                  <a16:creationId xmlns:a16="http://schemas.microsoft.com/office/drawing/2014/main" id="{B1A378DD-BFA3-852D-15FB-08BA5BB49E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7609" y="6157109"/>
              <a:ext cx="303364" cy="30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8" descr="Capture Generic Flat icon | Freepik">
              <a:extLst>
                <a:ext uri="{FF2B5EF4-FFF2-40B4-BE49-F238E27FC236}">
                  <a16:creationId xmlns:a16="http://schemas.microsoft.com/office/drawing/2014/main" id="{19F83B17-1CAF-2816-7E6B-05B7D8EAB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7378" y="6141605"/>
              <a:ext cx="334373" cy="3343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Add - Free education icons">
              <a:extLst>
                <a:ext uri="{FF2B5EF4-FFF2-40B4-BE49-F238E27FC236}">
                  <a16:creationId xmlns:a16="http://schemas.microsoft.com/office/drawing/2014/main" id="{89A5E1DD-78EB-4C50-F0A5-7F3E5964B8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7755" y="6157109"/>
              <a:ext cx="292920" cy="292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6AAA47B6-C5B5-4253-975E-8A4E1AE34892}"/>
              </a:ext>
            </a:extLst>
          </p:cNvPr>
          <p:cNvSpPr txBox="1"/>
          <p:nvPr/>
        </p:nvSpPr>
        <p:spPr>
          <a:xfrm>
            <a:off x="2324100" y="860278"/>
            <a:ext cx="4358199" cy="576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Demo Project –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마곡동 주민공동시설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en-US" dirty="0"/>
              <a:t>도면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916CED6-B455-2222-D614-818109E62B87}"/>
              </a:ext>
            </a:extLst>
          </p:cNvPr>
          <p:cNvGrpSpPr/>
          <p:nvPr/>
        </p:nvGrpSpPr>
        <p:grpSpPr>
          <a:xfrm>
            <a:off x="3397254" y="1525434"/>
            <a:ext cx="2145218" cy="333617"/>
            <a:chOff x="3397254" y="1525434"/>
            <a:chExt cx="2145218" cy="33361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F8D1F9-B919-7278-48E0-8FAC4B32F803}"/>
                </a:ext>
              </a:extLst>
            </p:cNvPr>
            <p:cNvSpPr txBox="1"/>
            <p:nvPr/>
          </p:nvSpPr>
          <p:spPr>
            <a:xfrm>
              <a:off x="3397254" y="1525434"/>
              <a:ext cx="2145218" cy="3336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키워드로 검색하세요</a:t>
              </a:r>
              <a:endParaRPr lang="en-US" altLang="ko-KR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2052" name="Picture 4" descr="Search Button Vector SVG Icon - SVG Repo">
              <a:extLst>
                <a:ext uri="{FF2B5EF4-FFF2-40B4-BE49-F238E27FC236}">
                  <a16:creationId xmlns:a16="http://schemas.microsoft.com/office/drawing/2014/main" id="{CEBA3883-E4D6-59B6-5B6E-F12B298DF2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686" y="1576247"/>
              <a:ext cx="207522" cy="207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51" name="자유형: 도형 2050">
            <a:extLst>
              <a:ext uri="{FF2B5EF4-FFF2-40B4-BE49-F238E27FC236}">
                <a16:creationId xmlns:a16="http://schemas.microsoft.com/office/drawing/2014/main" id="{E1C34498-3441-970D-14FC-E662DB2F2172}"/>
              </a:ext>
            </a:extLst>
          </p:cNvPr>
          <p:cNvSpPr/>
          <p:nvPr/>
        </p:nvSpPr>
        <p:spPr>
          <a:xfrm>
            <a:off x="5239033" y="3109890"/>
            <a:ext cx="119768" cy="160627"/>
          </a:xfrm>
          <a:custGeom>
            <a:avLst/>
            <a:gdLst>
              <a:gd name="csX0" fmla="*/ 0 w 203200"/>
              <a:gd name="csY0" fmla="*/ 0 h 199950"/>
              <a:gd name="csX1" fmla="*/ 203200 w 203200"/>
              <a:gd name="csY1" fmla="*/ 0 h 199950"/>
              <a:gd name="csX2" fmla="*/ 203200 w 203200"/>
              <a:gd name="csY2" fmla="*/ 199949 h 199950"/>
              <a:gd name="csX3" fmla="*/ 101601 w 203200"/>
              <a:gd name="csY3" fmla="*/ 98350 h 199950"/>
              <a:gd name="csX4" fmla="*/ 0 w 203200"/>
              <a:gd name="csY4" fmla="*/ 199950 h 199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3200" h="199950">
                <a:moveTo>
                  <a:pt x="0" y="0"/>
                </a:moveTo>
                <a:lnTo>
                  <a:pt x="203200" y="0"/>
                </a:lnTo>
                <a:lnTo>
                  <a:pt x="203200" y="199949"/>
                </a:lnTo>
                <a:lnTo>
                  <a:pt x="101601" y="98350"/>
                </a:lnTo>
                <a:lnTo>
                  <a:pt x="0" y="19995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802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42AC-EEBC-D55F-14CA-BC2A08C4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그림 46">
            <a:extLst>
              <a:ext uri="{FF2B5EF4-FFF2-40B4-BE49-F238E27FC236}">
                <a16:creationId xmlns:a16="http://schemas.microsoft.com/office/drawing/2014/main" id="{5E5A193B-59A7-64D4-81DC-D2183F3DDC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310" y="1129562"/>
            <a:ext cx="8168328" cy="5728438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7346B4B-234C-30C3-9DCB-BA5123343441}"/>
              </a:ext>
            </a:extLst>
          </p:cNvPr>
          <p:cNvCxnSpPr/>
          <p:nvPr/>
        </p:nvCxnSpPr>
        <p:spPr>
          <a:xfrm>
            <a:off x="-57150" y="673100"/>
            <a:ext cx="12249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893EE8-7CA1-9D3C-F983-0E887EE16D46}"/>
              </a:ext>
            </a:extLst>
          </p:cNvPr>
          <p:cNvSpPr/>
          <p:nvPr/>
        </p:nvSpPr>
        <p:spPr>
          <a:xfrm>
            <a:off x="2241498" y="197923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AA733F-4CBF-F9CB-EB21-77EA27A17540}"/>
              </a:ext>
            </a:extLst>
          </p:cNvPr>
          <p:cNvSpPr txBox="1"/>
          <p:nvPr/>
        </p:nvSpPr>
        <p:spPr>
          <a:xfrm>
            <a:off x="2576150" y="147734"/>
            <a:ext cx="416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Demo Project – </a:t>
            </a:r>
            <a:r>
              <a:rPr lang="ko-KR" altLang="en-US" dirty="0"/>
              <a:t>마곡동 주민공동시설</a:t>
            </a: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8E4A993D-95EA-3724-5723-43AAB963A954}"/>
              </a:ext>
            </a:extLst>
          </p:cNvPr>
          <p:cNvSpPr/>
          <p:nvPr/>
        </p:nvSpPr>
        <p:spPr>
          <a:xfrm>
            <a:off x="694047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4E5C79-5316-FC63-D132-7A2B0BBCB8F9}"/>
              </a:ext>
            </a:extLst>
          </p:cNvPr>
          <p:cNvSpPr txBox="1"/>
          <p:nvPr/>
        </p:nvSpPr>
        <p:spPr>
          <a:xfrm>
            <a:off x="10756900" y="147734"/>
            <a:ext cx="212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양승호</a:t>
            </a:r>
            <a:endParaRPr lang="ko-KR" altLang="en-US" dirty="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761D53FE-4C21-FC5A-E7BC-92C4D41A7E2D}"/>
              </a:ext>
            </a:extLst>
          </p:cNvPr>
          <p:cNvSpPr/>
          <p:nvPr/>
        </p:nvSpPr>
        <p:spPr>
          <a:xfrm>
            <a:off x="1176652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AF067A7-9B35-472C-E0FA-4AA56A1F9F09}"/>
              </a:ext>
            </a:extLst>
          </p:cNvPr>
          <p:cNvCxnSpPr>
            <a:cxnSpLocks/>
          </p:cNvCxnSpPr>
          <p:nvPr/>
        </p:nvCxnSpPr>
        <p:spPr>
          <a:xfrm>
            <a:off x="201295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26586AB-B738-4AA2-9ED2-11DEEA0ACE8F}"/>
              </a:ext>
            </a:extLst>
          </p:cNvPr>
          <p:cNvSpPr/>
          <p:nvPr/>
        </p:nvSpPr>
        <p:spPr>
          <a:xfrm>
            <a:off x="2216150" y="839629"/>
            <a:ext cx="9658371" cy="360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도면 비교                                                                                                      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pic>
        <p:nvPicPr>
          <p:cNvPr id="24" name="그림 23" descr="폰트, 로고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4964AB-E5A9-2F4E-B362-CA0C614A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61" y="60858"/>
            <a:ext cx="1570488" cy="5621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F04A14-ED0F-DDC6-3818-DFC2DB1F17D4}"/>
              </a:ext>
            </a:extLst>
          </p:cNvPr>
          <p:cNvSpPr txBox="1"/>
          <p:nvPr/>
        </p:nvSpPr>
        <p:spPr>
          <a:xfrm>
            <a:off x="495300" y="888982"/>
            <a:ext cx="151765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대시보드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도면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이슈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사진대지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멤버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보안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48CE563-5F94-DC08-CF25-278B15B4EAFC}"/>
              </a:ext>
            </a:extLst>
          </p:cNvPr>
          <p:cNvSpPr/>
          <p:nvPr/>
        </p:nvSpPr>
        <p:spPr>
          <a:xfrm>
            <a:off x="148101" y="1008089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7D6DDDE-BC13-8FE2-BFF0-AD44E839AF1C}"/>
              </a:ext>
            </a:extLst>
          </p:cNvPr>
          <p:cNvSpPr/>
          <p:nvPr/>
        </p:nvSpPr>
        <p:spPr>
          <a:xfrm>
            <a:off x="148101" y="1417956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3285E1-909B-A4D6-3224-78B16AFE4929}"/>
              </a:ext>
            </a:extLst>
          </p:cNvPr>
          <p:cNvSpPr/>
          <p:nvPr/>
        </p:nvSpPr>
        <p:spPr>
          <a:xfrm>
            <a:off x="148101" y="1827823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3FBB38A-E258-E5CD-BFA7-02EABC455790}"/>
              </a:ext>
            </a:extLst>
          </p:cNvPr>
          <p:cNvSpPr/>
          <p:nvPr/>
        </p:nvSpPr>
        <p:spPr>
          <a:xfrm>
            <a:off x="148101" y="2237690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6D85ED9-196A-0A14-F800-3CB6E17A2B51}"/>
              </a:ext>
            </a:extLst>
          </p:cNvPr>
          <p:cNvSpPr/>
          <p:nvPr/>
        </p:nvSpPr>
        <p:spPr>
          <a:xfrm>
            <a:off x="148101" y="3057423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621DF38-4598-311E-0F8B-368299CB8861}"/>
              </a:ext>
            </a:extLst>
          </p:cNvPr>
          <p:cNvSpPr/>
          <p:nvPr/>
        </p:nvSpPr>
        <p:spPr>
          <a:xfrm>
            <a:off x="148101" y="2647557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Picture 10" descr="Bell - Free music icons">
            <a:extLst>
              <a:ext uri="{FF2B5EF4-FFF2-40B4-BE49-F238E27FC236}">
                <a16:creationId xmlns:a16="http://schemas.microsoft.com/office/drawing/2014/main" id="{E46F8B91-8A32-62AE-0C1B-B1A41DCE6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743" y="208197"/>
            <a:ext cx="287919" cy="25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User icon icon | Premium AI-generated vector">
            <a:extLst>
              <a:ext uri="{FF2B5EF4-FFF2-40B4-BE49-F238E27FC236}">
                <a16:creationId xmlns:a16="http://schemas.microsoft.com/office/drawing/2014/main" id="{7BED8870-DCF0-F805-FA29-082F3918F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4431" y="131202"/>
            <a:ext cx="507640" cy="43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62428C3E-F938-B8DF-BB72-F2C40C76A45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48" t="45985" r="38775" b="30404"/>
          <a:stretch>
            <a:fillRect/>
          </a:stretch>
        </p:blipFill>
        <p:spPr>
          <a:xfrm>
            <a:off x="7070725" y="3762451"/>
            <a:ext cx="945719" cy="135255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C3BC2282-99A5-4EBF-E7DE-1EC48577919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53" t="46378" r="49244" b="29976"/>
          <a:stretch>
            <a:fillRect/>
          </a:stretch>
        </p:blipFill>
        <p:spPr>
          <a:xfrm>
            <a:off x="6161465" y="3789139"/>
            <a:ext cx="988635" cy="1354530"/>
          </a:xfrm>
          <a:prstGeom prst="rect">
            <a:avLst/>
          </a:prstGeom>
        </p:spPr>
      </p:pic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E25E578E-B048-F295-A886-8690EFDB0A9B}"/>
              </a:ext>
            </a:extLst>
          </p:cNvPr>
          <p:cNvGrpSpPr/>
          <p:nvPr/>
        </p:nvGrpSpPr>
        <p:grpSpPr>
          <a:xfrm>
            <a:off x="5968699" y="6184900"/>
            <a:ext cx="1636061" cy="360000"/>
            <a:chOff x="5968699" y="6184900"/>
            <a:chExt cx="1636061" cy="360000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76186024-1BF7-D566-E496-4E815B3B4374}"/>
                </a:ext>
              </a:extLst>
            </p:cNvPr>
            <p:cNvSpPr/>
            <p:nvPr/>
          </p:nvSpPr>
          <p:spPr>
            <a:xfrm>
              <a:off x="5968699" y="6184900"/>
              <a:ext cx="1636061" cy="360000"/>
            </a:xfrm>
            <a:prstGeom prst="round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0" name="Picture 6" descr="941,100+ Hand Icon Stock Illustrations ...">
              <a:extLst>
                <a:ext uri="{FF2B5EF4-FFF2-40B4-BE49-F238E27FC236}">
                  <a16:creationId xmlns:a16="http://schemas.microsoft.com/office/drawing/2014/main" id="{893D260C-4D20-1B19-CEA9-14F369B796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2676" y="6216376"/>
              <a:ext cx="303364" cy="303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Capture Generic Flat icon | Freepik">
              <a:extLst>
                <a:ext uri="{FF2B5EF4-FFF2-40B4-BE49-F238E27FC236}">
                  <a16:creationId xmlns:a16="http://schemas.microsoft.com/office/drawing/2014/main" id="{9E860BA3-64FB-180D-B74F-07104DE073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2445" y="6200872"/>
              <a:ext cx="334373" cy="3343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Add Icon Vector Art, Icons, and ...">
              <a:extLst>
                <a:ext uri="{FF2B5EF4-FFF2-40B4-BE49-F238E27FC236}">
                  <a16:creationId xmlns:a16="http://schemas.microsoft.com/office/drawing/2014/main" id="{3A884C86-5872-CAC1-A082-2EC4C39E94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3223" y="6201770"/>
              <a:ext cx="332577" cy="3325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6" name="그림 1045">
            <a:extLst>
              <a:ext uri="{FF2B5EF4-FFF2-40B4-BE49-F238E27FC236}">
                <a16:creationId xmlns:a16="http://schemas.microsoft.com/office/drawing/2014/main" id="{4096FD6E-CFCA-62F1-7AC6-530EF07B7606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133" y="1109153"/>
            <a:ext cx="8172505" cy="5777741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92166A-60E1-0422-B5F9-2461DB0FE3DA}"/>
              </a:ext>
            </a:extLst>
          </p:cNvPr>
          <p:cNvGrpSpPr/>
          <p:nvPr/>
        </p:nvGrpSpPr>
        <p:grpSpPr>
          <a:xfrm>
            <a:off x="2381586" y="1414650"/>
            <a:ext cx="2067648" cy="1044917"/>
            <a:chOff x="2381586" y="1414650"/>
            <a:chExt cx="2067648" cy="1044917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E8A85381-9351-06D7-1D81-2C17CE383646}"/>
                </a:ext>
              </a:extLst>
            </p:cNvPr>
            <p:cNvSpPr/>
            <p:nvPr/>
          </p:nvSpPr>
          <p:spPr>
            <a:xfrm>
              <a:off x="2381586" y="1686547"/>
              <a:ext cx="2067644" cy="773020"/>
            </a:xfrm>
            <a:prstGeom prst="roundRect">
              <a:avLst>
                <a:gd name="adj" fmla="val 6703"/>
              </a:avLst>
            </a:prstGeom>
            <a:solidFill>
              <a:schemeClr val="bg1">
                <a:alpha val="7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180000" rtlCol="0" anchor="t"/>
            <a:lstStyle/>
            <a:p>
              <a:pPr>
                <a:lnSpc>
                  <a:spcPct val="150000"/>
                </a:lnSpc>
              </a:pPr>
              <a:r>
                <a:rPr lang="en-US" altLang="ko-KR" sz="900" spc="-60" dirty="0">
                  <a:solidFill>
                    <a:schemeClr val="bg1">
                      <a:lumMod val="50000"/>
                    </a:schemeClr>
                  </a:solidFill>
                </a:rPr>
                <a:t>Rev1 Timestamp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900" spc="-60" dirty="0">
                  <a:solidFill>
                    <a:schemeClr val="bg1">
                      <a:lumMod val="50000"/>
                    </a:schemeClr>
                  </a:solidFill>
                </a:rPr>
                <a:t>Rev2 Timestamp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900" spc="-60" dirty="0">
                  <a:solidFill>
                    <a:schemeClr val="bg1">
                      <a:lumMod val="50000"/>
                    </a:schemeClr>
                  </a:solidFill>
                </a:rPr>
                <a:t>Rev3 Timestamp</a:t>
              </a:r>
              <a:endParaRPr lang="ko-KR" altLang="en-US" sz="900" spc="-6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026" name="Picture 2" descr="Visibility Off Vector SVG Icon - SVG Repo">
              <a:extLst>
                <a:ext uri="{FF2B5EF4-FFF2-40B4-BE49-F238E27FC236}">
                  <a16:creationId xmlns:a16="http://schemas.microsoft.com/office/drawing/2014/main" id="{5D1435E3-94F0-73FB-7AC1-E142DED2CF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9232" y="1784186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Visibility SVG Vectors and Icons - SVG Repo">
              <a:extLst>
                <a:ext uri="{FF2B5EF4-FFF2-40B4-BE49-F238E27FC236}">
                  <a16:creationId xmlns:a16="http://schemas.microsoft.com/office/drawing/2014/main" id="{9F7C3000-4408-B802-FB4F-2F2A0F7BB0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9232" y="2191878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Visibility SVG Vectors and Icons - SVG Repo">
              <a:extLst>
                <a:ext uri="{FF2B5EF4-FFF2-40B4-BE49-F238E27FC236}">
                  <a16:creationId xmlns:a16="http://schemas.microsoft.com/office/drawing/2014/main" id="{545BEE71-12A3-BCDA-67B0-F39EDEB3A7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9232" y="1989823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A72FC57-AC83-8DCD-67BC-DB9266AC959C}"/>
                </a:ext>
              </a:extLst>
            </p:cNvPr>
            <p:cNvSpPr/>
            <p:nvPr/>
          </p:nvSpPr>
          <p:spPr>
            <a:xfrm>
              <a:off x="2470201" y="1827823"/>
              <a:ext cx="1080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BA0CA70-8A3C-6CD6-E418-0C48617F666E}"/>
                </a:ext>
              </a:extLst>
            </p:cNvPr>
            <p:cNvSpPr/>
            <p:nvPr/>
          </p:nvSpPr>
          <p:spPr>
            <a:xfrm>
              <a:off x="2470201" y="2027657"/>
              <a:ext cx="108000" cy="10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BE36F11-9E92-A9D1-E823-46EB4A733A87}"/>
                </a:ext>
              </a:extLst>
            </p:cNvPr>
            <p:cNvSpPr/>
            <p:nvPr/>
          </p:nvSpPr>
          <p:spPr>
            <a:xfrm>
              <a:off x="2470201" y="2237690"/>
              <a:ext cx="108000" cy="10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4E1106E2-E624-0F3A-839C-A42D5252C82B}"/>
                </a:ext>
              </a:extLst>
            </p:cNvPr>
            <p:cNvSpPr/>
            <p:nvPr/>
          </p:nvSpPr>
          <p:spPr>
            <a:xfrm>
              <a:off x="2381590" y="1414650"/>
              <a:ext cx="2067644" cy="291306"/>
            </a:xfrm>
            <a:prstGeom prst="roundRect">
              <a:avLst>
                <a:gd name="adj" fmla="val 670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spc="-60" dirty="0">
                  <a:solidFill>
                    <a:schemeClr val="bg1"/>
                  </a:solidFill>
                </a:rPr>
                <a:t>09_Resident Amenities 1</a:t>
              </a:r>
              <a:r>
                <a:rPr lang="en-US" altLang="ko-KR" sz="900" spc="-60" baseline="30000" dirty="0">
                  <a:solidFill>
                    <a:schemeClr val="bg1"/>
                  </a:solidFill>
                </a:rPr>
                <a:t>st</a:t>
              </a:r>
              <a:r>
                <a:rPr lang="en-US" altLang="ko-KR" sz="900" spc="-60" dirty="0">
                  <a:solidFill>
                    <a:schemeClr val="bg1"/>
                  </a:solidFill>
                </a:rPr>
                <a:t> Floor Plan     v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45AE3890-2D09-DDDF-14D2-CC4DBC362A07}"/>
              </a:ext>
            </a:extLst>
          </p:cNvPr>
          <p:cNvGrpSpPr/>
          <p:nvPr/>
        </p:nvGrpSpPr>
        <p:grpSpPr>
          <a:xfrm>
            <a:off x="9517058" y="1429072"/>
            <a:ext cx="2342813" cy="639734"/>
            <a:chOff x="2381585" y="1414650"/>
            <a:chExt cx="2342813" cy="639734"/>
          </a:xfrm>
        </p:grpSpPr>
        <p:sp>
          <p:nvSpPr>
            <p:cNvPr id="1037" name="사각형: 둥근 모서리 1036">
              <a:extLst>
                <a:ext uri="{FF2B5EF4-FFF2-40B4-BE49-F238E27FC236}">
                  <a16:creationId xmlns:a16="http://schemas.microsoft.com/office/drawing/2014/main" id="{EBD81E75-1980-6717-DCEC-DA3A9BA8C8F1}"/>
                </a:ext>
              </a:extLst>
            </p:cNvPr>
            <p:cNvSpPr/>
            <p:nvPr/>
          </p:nvSpPr>
          <p:spPr>
            <a:xfrm>
              <a:off x="2381585" y="1686547"/>
              <a:ext cx="2342801" cy="367837"/>
            </a:xfrm>
            <a:prstGeom prst="roundRect">
              <a:avLst>
                <a:gd name="adj" fmla="val 6703"/>
              </a:avLst>
            </a:prstGeom>
            <a:solidFill>
              <a:schemeClr val="bg1">
                <a:alpha val="7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180000" rtlCol="0" anchor="t"/>
            <a:lstStyle/>
            <a:p>
              <a:pPr>
                <a:lnSpc>
                  <a:spcPct val="150000"/>
                </a:lnSpc>
              </a:pPr>
              <a:r>
                <a:rPr lang="en-US" altLang="ko-KR" sz="900" spc="-60" dirty="0">
                  <a:solidFill>
                    <a:schemeClr val="bg1">
                      <a:lumMod val="50000"/>
                    </a:schemeClr>
                  </a:solidFill>
                </a:rPr>
                <a:t>Rev1 Timestamp</a:t>
              </a:r>
            </a:p>
          </p:txBody>
        </p:sp>
        <p:pic>
          <p:nvPicPr>
            <p:cNvPr id="1040" name="Picture 4" descr="Visibility SVG Vectors and Icons - SVG Repo">
              <a:extLst>
                <a:ext uri="{FF2B5EF4-FFF2-40B4-BE49-F238E27FC236}">
                  <a16:creationId xmlns:a16="http://schemas.microsoft.com/office/drawing/2014/main" id="{ABEDED29-8859-85F6-94BE-F8722E4C91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9230" y="1785930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F3E65F24-42E3-5FAE-9C7A-CE7368F28FB8}"/>
                </a:ext>
              </a:extLst>
            </p:cNvPr>
            <p:cNvSpPr/>
            <p:nvPr/>
          </p:nvSpPr>
          <p:spPr>
            <a:xfrm>
              <a:off x="2470201" y="1827823"/>
              <a:ext cx="108000" cy="10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" name="사각형: 둥근 모서리 1043">
              <a:extLst>
                <a:ext uri="{FF2B5EF4-FFF2-40B4-BE49-F238E27FC236}">
                  <a16:creationId xmlns:a16="http://schemas.microsoft.com/office/drawing/2014/main" id="{7DA5C4AE-41FF-4F1E-2E25-04EEF2350858}"/>
                </a:ext>
              </a:extLst>
            </p:cNvPr>
            <p:cNvSpPr/>
            <p:nvPr/>
          </p:nvSpPr>
          <p:spPr>
            <a:xfrm>
              <a:off x="2381589" y="1414650"/>
              <a:ext cx="2342809" cy="291306"/>
            </a:xfrm>
            <a:prstGeom prst="roundRect">
              <a:avLst>
                <a:gd name="adj" fmla="val 670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spc="-60" dirty="0">
                  <a:solidFill>
                    <a:schemeClr val="bg1"/>
                  </a:solidFill>
                </a:rPr>
                <a:t>09_Resident Amenities 1</a:t>
              </a:r>
              <a:r>
                <a:rPr lang="en-US" altLang="ko-KR" sz="900" spc="-60" baseline="30000" dirty="0">
                  <a:solidFill>
                    <a:schemeClr val="bg1"/>
                  </a:solidFill>
                </a:rPr>
                <a:t>st</a:t>
              </a:r>
              <a:r>
                <a:rPr lang="en-US" altLang="ko-KR" sz="900" spc="-60" dirty="0">
                  <a:solidFill>
                    <a:schemeClr val="bg1"/>
                  </a:solidFill>
                </a:rPr>
                <a:t> Floor Plan(</a:t>
              </a:r>
              <a:r>
                <a:rPr lang="ko-KR" altLang="en-US" sz="900" spc="-60" dirty="0">
                  <a:solidFill>
                    <a:schemeClr val="bg1"/>
                  </a:solidFill>
                </a:rPr>
                <a:t>구조</a:t>
              </a:r>
              <a:r>
                <a:rPr lang="en-US" altLang="ko-KR" sz="900" spc="-60" dirty="0">
                  <a:solidFill>
                    <a:schemeClr val="bg1"/>
                  </a:solidFill>
                </a:rPr>
                <a:t>)     X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653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4915-60B2-80B7-DC18-05655131C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FBAFCC4-E017-D497-0B64-7CDFEC0790F9}"/>
              </a:ext>
            </a:extLst>
          </p:cNvPr>
          <p:cNvCxnSpPr/>
          <p:nvPr/>
        </p:nvCxnSpPr>
        <p:spPr>
          <a:xfrm>
            <a:off x="-57150" y="673100"/>
            <a:ext cx="12249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1470304-4A49-FC1C-28BF-8C3DD617EC87}"/>
              </a:ext>
            </a:extLst>
          </p:cNvPr>
          <p:cNvSpPr/>
          <p:nvPr/>
        </p:nvSpPr>
        <p:spPr>
          <a:xfrm>
            <a:off x="2241498" y="197923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14C93-3D80-4C3E-4DB9-6D2F6D5EFC14}"/>
              </a:ext>
            </a:extLst>
          </p:cNvPr>
          <p:cNvSpPr txBox="1"/>
          <p:nvPr/>
        </p:nvSpPr>
        <p:spPr>
          <a:xfrm>
            <a:off x="2576150" y="147734"/>
            <a:ext cx="416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Demo Project – </a:t>
            </a:r>
            <a:r>
              <a:rPr lang="ko-KR" altLang="en-US" dirty="0"/>
              <a:t>마곡동 주민공동시설</a:t>
            </a: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5DF176FA-478D-8F1D-7BFD-1F82C21BEA99}"/>
              </a:ext>
            </a:extLst>
          </p:cNvPr>
          <p:cNvSpPr/>
          <p:nvPr/>
        </p:nvSpPr>
        <p:spPr>
          <a:xfrm>
            <a:off x="694047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CA8A35-FCCA-9B3E-0A8D-6A69E4A57AEC}"/>
              </a:ext>
            </a:extLst>
          </p:cNvPr>
          <p:cNvSpPr txBox="1"/>
          <p:nvPr/>
        </p:nvSpPr>
        <p:spPr>
          <a:xfrm>
            <a:off x="10756900" y="147734"/>
            <a:ext cx="212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양승호</a:t>
            </a:r>
            <a:endParaRPr lang="ko-KR" altLang="en-US" dirty="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2C414A6A-DDF4-8449-6BD1-CAA849D4376B}"/>
              </a:ext>
            </a:extLst>
          </p:cNvPr>
          <p:cNvSpPr/>
          <p:nvPr/>
        </p:nvSpPr>
        <p:spPr>
          <a:xfrm>
            <a:off x="1176652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435849A-9AAA-2E62-3624-F0098CA796D7}"/>
              </a:ext>
            </a:extLst>
          </p:cNvPr>
          <p:cNvCxnSpPr>
            <a:cxnSpLocks/>
          </p:cNvCxnSpPr>
          <p:nvPr/>
        </p:nvCxnSpPr>
        <p:spPr>
          <a:xfrm>
            <a:off x="201295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폰트, 로고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6EBBCD-8DEE-2F8C-DEB1-D891C9A99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61" y="60858"/>
            <a:ext cx="1570488" cy="5621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1F19F6-B45F-6B4E-4317-7087B55D1C1F}"/>
              </a:ext>
            </a:extLst>
          </p:cNvPr>
          <p:cNvSpPr txBox="1"/>
          <p:nvPr/>
        </p:nvSpPr>
        <p:spPr>
          <a:xfrm>
            <a:off x="495300" y="888982"/>
            <a:ext cx="151765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대시보드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도면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이슈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사진대지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멤버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보안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F044CA2-00D0-85AF-4FCB-56293BFBFC3D}"/>
              </a:ext>
            </a:extLst>
          </p:cNvPr>
          <p:cNvSpPr/>
          <p:nvPr/>
        </p:nvSpPr>
        <p:spPr>
          <a:xfrm>
            <a:off x="148101" y="1008089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B28719A-89EB-4965-0E11-699369A0E82A}"/>
              </a:ext>
            </a:extLst>
          </p:cNvPr>
          <p:cNvSpPr/>
          <p:nvPr/>
        </p:nvSpPr>
        <p:spPr>
          <a:xfrm>
            <a:off x="148101" y="1417956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C7112AF-5BEC-E3C4-FDBA-4FD2867565EA}"/>
              </a:ext>
            </a:extLst>
          </p:cNvPr>
          <p:cNvSpPr/>
          <p:nvPr/>
        </p:nvSpPr>
        <p:spPr>
          <a:xfrm>
            <a:off x="148101" y="1827823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2361CA7-4040-CF93-C5B7-0DDCF0B7AADF}"/>
              </a:ext>
            </a:extLst>
          </p:cNvPr>
          <p:cNvSpPr/>
          <p:nvPr/>
        </p:nvSpPr>
        <p:spPr>
          <a:xfrm>
            <a:off x="148101" y="2237690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36472DD-7BA0-DE95-0855-FACC2BDDD57D}"/>
              </a:ext>
            </a:extLst>
          </p:cNvPr>
          <p:cNvSpPr/>
          <p:nvPr/>
        </p:nvSpPr>
        <p:spPr>
          <a:xfrm>
            <a:off x="148101" y="3057423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64B00CE-7DB0-C51A-8E67-C83930825C14}"/>
              </a:ext>
            </a:extLst>
          </p:cNvPr>
          <p:cNvSpPr/>
          <p:nvPr/>
        </p:nvSpPr>
        <p:spPr>
          <a:xfrm>
            <a:off x="148101" y="2647557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Picture 10" descr="Bell - Free music icons">
            <a:extLst>
              <a:ext uri="{FF2B5EF4-FFF2-40B4-BE49-F238E27FC236}">
                <a16:creationId xmlns:a16="http://schemas.microsoft.com/office/drawing/2014/main" id="{79068394-AB0B-7573-2C10-4FAD7FAE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743" y="208197"/>
            <a:ext cx="287919" cy="25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User icon icon | Premium AI-generated vector">
            <a:extLst>
              <a:ext uri="{FF2B5EF4-FFF2-40B4-BE49-F238E27FC236}">
                <a16:creationId xmlns:a16="http://schemas.microsoft.com/office/drawing/2014/main" id="{FCF17B2D-5D57-B68B-BA49-9265854F0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4431" y="131202"/>
            <a:ext cx="507640" cy="43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2FD275-DAC3-B704-6697-12334CF4C038}"/>
              </a:ext>
            </a:extLst>
          </p:cNvPr>
          <p:cNvSpPr txBox="1"/>
          <p:nvPr/>
        </p:nvSpPr>
        <p:spPr>
          <a:xfrm>
            <a:off x="2324100" y="860278"/>
            <a:ext cx="4358199" cy="576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Demo Project –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마곡동 주민공동시설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en-US" dirty="0"/>
              <a:t>이슈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9FE52BA-3A21-B8D4-AD80-4FC8960D02A7}"/>
              </a:ext>
            </a:extLst>
          </p:cNvPr>
          <p:cNvGrpSpPr/>
          <p:nvPr/>
        </p:nvGrpSpPr>
        <p:grpSpPr>
          <a:xfrm>
            <a:off x="2411623" y="1494206"/>
            <a:ext cx="2145218" cy="333617"/>
            <a:chOff x="3397254" y="1525434"/>
            <a:chExt cx="2145218" cy="33361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64D3A6-A210-672F-8B3E-FE6E8264BD9D}"/>
                </a:ext>
              </a:extLst>
            </p:cNvPr>
            <p:cNvSpPr txBox="1"/>
            <p:nvPr/>
          </p:nvSpPr>
          <p:spPr>
            <a:xfrm>
              <a:off x="3397254" y="1525434"/>
              <a:ext cx="2145218" cy="3336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키워드로 검색하세요</a:t>
              </a:r>
              <a:endParaRPr lang="en-US" altLang="ko-KR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7" name="Picture 4" descr="Search Button Vector SVG Icon - SVG Repo">
              <a:extLst>
                <a:ext uri="{FF2B5EF4-FFF2-40B4-BE49-F238E27FC236}">
                  <a16:creationId xmlns:a16="http://schemas.microsoft.com/office/drawing/2014/main" id="{43976F45-82C9-26FA-B504-D57F6368C8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686" y="1576247"/>
              <a:ext cx="207522" cy="207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898B6F0-66F4-3169-F516-AC20FA6076CB}"/>
              </a:ext>
            </a:extLst>
          </p:cNvPr>
          <p:cNvSpPr txBox="1"/>
          <p:nvPr/>
        </p:nvSpPr>
        <p:spPr>
          <a:xfrm>
            <a:off x="2396832" y="2031015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유형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5F560-6A60-E18D-551E-0BA933DFA3EB}"/>
              </a:ext>
            </a:extLst>
          </p:cNvPr>
          <p:cNvSpPr txBox="1"/>
          <p:nvPr/>
        </p:nvSpPr>
        <p:spPr>
          <a:xfrm>
            <a:off x="3323128" y="2031015"/>
            <a:ext cx="594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번호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0E7621-F54F-1E19-B7CE-D6138108597D}"/>
              </a:ext>
            </a:extLst>
          </p:cNvPr>
          <p:cNvSpPr txBox="1"/>
          <p:nvPr/>
        </p:nvSpPr>
        <p:spPr>
          <a:xfrm>
            <a:off x="4324034" y="2031015"/>
            <a:ext cx="3020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제목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A8F5A4-9F52-8993-E610-F0ABAA01E76F}"/>
              </a:ext>
            </a:extLst>
          </p:cNvPr>
          <p:cNvSpPr txBox="1"/>
          <p:nvPr/>
        </p:nvSpPr>
        <p:spPr>
          <a:xfrm>
            <a:off x="8510471" y="2031015"/>
            <a:ext cx="662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담당자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A2CBB4-63CA-7C62-B9A4-30BD71616D00}"/>
              </a:ext>
            </a:extLst>
          </p:cNvPr>
          <p:cNvSpPr txBox="1"/>
          <p:nvPr/>
        </p:nvSpPr>
        <p:spPr>
          <a:xfrm>
            <a:off x="9315018" y="2031015"/>
            <a:ext cx="662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보고자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66CB01-8B1E-54A6-E3C0-2168427EE1EC}"/>
              </a:ext>
            </a:extLst>
          </p:cNvPr>
          <p:cNvSpPr txBox="1"/>
          <p:nvPr/>
        </p:nvSpPr>
        <p:spPr>
          <a:xfrm>
            <a:off x="10057399" y="2031015"/>
            <a:ext cx="806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우선순위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46810C-1218-93B2-B566-22E0A1BC3B46}"/>
              </a:ext>
            </a:extLst>
          </p:cNvPr>
          <p:cNvSpPr txBox="1"/>
          <p:nvPr/>
        </p:nvSpPr>
        <p:spPr>
          <a:xfrm>
            <a:off x="10768039" y="2031015"/>
            <a:ext cx="1371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상태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37BAFB5-F124-9272-D1B5-509702C676AB}"/>
              </a:ext>
            </a:extLst>
          </p:cNvPr>
          <p:cNvCxnSpPr/>
          <p:nvPr/>
        </p:nvCxnSpPr>
        <p:spPr>
          <a:xfrm>
            <a:off x="2411623" y="2308014"/>
            <a:ext cx="94629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직선 연결선 1075">
            <a:extLst>
              <a:ext uri="{FF2B5EF4-FFF2-40B4-BE49-F238E27FC236}">
                <a16:creationId xmlns:a16="http://schemas.microsoft.com/office/drawing/2014/main" id="{CA36A576-C9EF-8B3C-5846-84B4987F048D}"/>
              </a:ext>
            </a:extLst>
          </p:cNvPr>
          <p:cNvCxnSpPr/>
          <p:nvPr/>
        </p:nvCxnSpPr>
        <p:spPr>
          <a:xfrm>
            <a:off x="2411623" y="5800000"/>
            <a:ext cx="94629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TextBox 1076">
            <a:extLst>
              <a:ext uri="{FF2B5EF4-FFF2-40B4-BE49-F238E27FC236}">
                <a16:creationId xmlns:a16="http://schemas.microsoft.com/office/drawing/2014/main" id="{1DB9A6DA-EC20-2CA8-3679-E81BB12C5D6A}"/>
              </a:ext>
            </a:extLst>
          </p:cNvPr>
          <p:cNvSpPr txBox="1"/>
          <p:nvPr/>
        </p:nvSpPr>
        <p:spPr>
          <a:xfrm>
            <a:off x="5632254" y="5980089"/>
            <a:ext cx="2724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Pagination</a:t>
            </a:r>
            <a:endParaRPr lang="ko-KR" altLang="en-US" sz="1200" dirty="0"/>
          </a:p>
        </p:txBody>
      </p:sp>
      <p:sp>
        <p:nvSpPr>
          <p:cNvPr id="1078" name="직사각형 1077">
            <a:extLst>
              <a:ext uri="{FF2B5EF4-FFF2-40B4-BE49-F238E27FC236}">
                <a16:creationId xmlns:a16="http://schemas.microsoft.com/office/drawing/2014/main" id="{BBEBE834-AF3D-D8D0-CF87-F9D8FFE91525}"/>
              </a:ext>
            </a:extLst>
          </p:cNvPr>
          <p:cNvSpPr/>
          <p:nvPr/>
        </p:nvSpPr>
        <p:spPr>
          <a:xfrm>
            <a:off x="10961237" y="1494206"/>
            <a:ext cx="985520" cy="333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이슈 생성</a:t>
            </a:r>
          </a:p>
        </p:txBody>
      </p:sp>
      <p:sp>
        <p:nvSpPr>
          <p:cNvPr id="1079" name="직사각형 1078">
            <a:extLst>
              <a:ext uri="{FF2B5EF4-FFF2-40B4-BE49-F238E27FC236}">
                <a16:creationId xmlns:a16="http://schemas.microsoft.com/office/drawing/2014/main" id="{E78EA839-64E2-3571-5E70-622E001BC405}"/>
              </a:ext>
            </a:extLst>
          </p:cNvPr>
          <p:cNvSpPr/>
          <p:nvPr/>
        </p:nvSpPr>
        <p:spPr>
          <a:xfrm>
            <a:off x="4856232" y="1494206"/>
            <a:ext cx="848112" cy="333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유형 필터</a:t>
            </a:r>
          </a:p>
        </p:txBody>
      </p:sp>
      <p:sp>
        <p:nvSpPr>
          <p:cNvPr id="1080" name="직사각형 1079">
            <a:extLst>
              <a:ext uri="{FF2B5EF4-FFF2-40B4-BE49-F238E27FC236}">
                <a16:creationId xmlns:a16="http://schemas.microsoft.com/office/drawing/2014/main" id="{5704CAE8-DCC8-2B59-17F8-6040ABDA4F82}"/>
              </a:ext>
            </a:extLst>
          </p:cNvPr>
          <p:cNvSpPr/>
          <p:nvPr/>
        </p:nvSpPr>
        <p:spPr>
          <a:xfrm>
            <a:off x="5814589" y="1494206"/>
            <a:ext cx="848112" cy="333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그룹 필터</a:t>
            </a:r>
          </a:p>
        </p:txBody>
      </p:sp>
      <p:sp>
        <p:nvSpPr>
          <p:cNvPr id="1081" name="직사각형 1080">
            <a:extLst>
              <a:ext uri="{FF2B5EF4-FFF2-40B4-BE49-F238E27FC236}">
                <a16:creationId xmlns:a16="http://schemas.microsoft.com/office/drawing/2014/main" id="{CB1E5127-E5A7-9F4A-F0AA-AAB6092E2373}"/>
              </a:ext>
            </a:extLst>
          </p:cNvPr>
          <p:cNvSpPr/>
          <p:nvPr/>
        </p:nvSpPr>
        <p:spPr>
          <a:xfrm>
            <a:off x="6772946" y="1494206"/>
            <a:ext cx="1291382" cy="333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우선순위 필터</a:t>
            </a:r>
          </a:p>
        </p:txBody>
      </p:sp>
      <p:sp>
        <p:nvSpPr>
          <p:cNvPr id="1082" name="직사각형 1081">
            <a:extLst>
              <a:ext uri="{FF2B5EF4-FFF2-40B4-BE49-F238E27FC236}">
                <a16:creationId xmlns:a16="http://schemas.microsoft.com/office/drawing/2014/main" id="{8106E143-25EE-CEBC-2636-E51C46345F2F}"/>
              </a:ext>
            </a:extLst>
          </p:cNvPr>
          <p:cNvSpPr/>
          <p:nvPr/>
        </p:nvSpPr>
        <p:spPr>
          <a:xfrm>
            <a:off x="8174574" y="1494206"/>
            <a:ext cx="848112" cy="333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상태 필터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E2ED8039-CD0C-DF9B-80E9-85EFDE7999D6}"/>
              </a:ext>
            </a:extLst>
          </p:cNvPr>
          <p:cNvSpPr txBox="1"/>
          <p:nvPr/>
        </p:nvSpPr>
        <p:spPr>
          <a:xfrm>
            <a:off x="7661538" y="2031015"/>
            <a:ext cx="698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그룹</a:t>
            </a:r>
          </a:p>
        </p:txBody>
      </p:sp>
      <p:grpSp>
        <p:nvGrpSpPr>
          <p:cNvPr id="1085" name="그룹 1084">
            <a:extLst>
              <a:ext uri="{FF2B5EF4-FFF2-40B4-BE49-F238E27FC236}">
                <a16:creationId xmlns:a16="http://schemas.microsoft.com/office/drawing/2014/main" id="{48C09383-CB60-3C6B-6FD0-35FEAEFB5BA7}"/>
              </a:ext>
            </a:extLst>
          </p:cNvPr>
          <p:cNvGrpSpPr/>
          <p:nvPr/>
        </p:nvGrpSpPr>
        <p:grpSpPr>
          <a:xfrm>
            <a:off x="2506201" y="2420942"/>
            <a:ext cx="9537698" cy="276999"/>
            <a:chOff x="2506201" y="2420942"/>
            <a:chExt cx="9537698" cy="27699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5B453C89-6227-3904-79D9-2F6E33B96E06}"/>
                </a:ext>
              </a:extLst>
            </p:cNvPr>
            <p:cNvSpPr/>
            <p:nvPr/>
          </p:nvSpPr>
          <p:spPr>
            <a:xfrm>
              <a:off x="250620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F5D809-4BF0-2CC9-8192-0D5DB7715458}"/>
                </a:ext>
              </a:extLst>
            </p:cNvPr>
            <p:cNvSpPr txBox="1"/>
            <p:nvPr/>
          </p:nvSpPr>
          <p:spPr>
            <a:xfrm>
              <a:off x="3008020" y="2420942"/>
              <a:ext cx="12250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ISSUE#21</a:t>
              </a:r>
              <a:endParaRPr lang="ko-KR" altLang="en-US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8BEB616-F6F8-A267-F223-E0F8D52325A7}"/>
                </a:ext>
              </a:extLst>
            </p:cNvPr>
            <p:cNvSpPr txBox="1"/>
            <p:nvPr/>
          </p:nvSpPr>
          <p:spPr>
            <a:xfrm>
              <a:off x="4324033" y="2420942"/>
              <a:ext cx="3020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화장실 마감재 변경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64C7199-1BD3-3C49-C4B2-0DFA0EF52E3E}"/>
                </a:ext>
              </a:extLst>
            </p:cNvPr>
            <p:cNvSpPr txBox="1"/>
            <p:nvPr/>
          </p:nvSpPr>
          <p:spPr>
            <a:xfrm>
              <a:off x="8426863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양승호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BEDF35F-1206-63C7-18E1-F6BD6F24AACB}"/>
                </a:ext>
              </a:extLst>
            </p:cNvPr>
            <p:cNvSpPr txBox="1"/>
            <p:nvPr/>
          </p:nvSpPr>
          <p:spPr>
            <a:xfrm>
              <a:off x="9217547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/>
                <a:t>홍지호</a:t>
              </a:r>
              <a:endParaRPr lang="ko-KR" altLang="en-US" sz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32ACA63-6990-5855-D533-DD346B7B72D6}"/>
                </a:ext>
              </a:extLst>
            </p:cNvPr>
            <p:cNvSpPr txBox="1"/>
            <p:nvPr/>
          </p:nvSpPr>
          <p:spPr>
            <a:xfrm>
              <a:off x="10864095" y="2420942"/>
              <a:ext cx="1179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DONE(pill</a:t>
              </a:r>
              <a:r>
                <a:rPr lang="ko-KR" altLang="en-US" sz="1200" dirty="0"/>
                <a:t>표현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351C5063-D615-90D1-91DF-4D52E2BE1CAE}"/>
                </a:ext>
              </a:extLst>
            </p:cNvPr>
            <p:cNvSpPr/>
            <p:nvPr/>
          </p:nvSpPr>
          <p:spPr>
            <a:xfrm>
              <a:off x="1040025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EF707C51-45E5-5123-C70B-C71A39F3D449}"/>
                </a:ext>
              </a:extLst>
            </p:cNvPr>
            <p:cNvSpPr txBox="1"/>
            <p:nvPr/>
          </p:nvSpPr>
          <p:spPr>
            <a:xfrm>
              <a:off x="7548857" y="2420942"/>
              <a:ext cx="9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/>
                <a:t>03.08</a:t>
              </a:r>
              <a:r>
                <a:rPr lang="ko-KR" altLang="en-US" sz="1200" dirty="0"/>
                <a:t>회의</a:t>
              </a:r>
            </a:p>
          </p:txBody>
        </p:sp>
      </p:grpSp>
      <p:grpSp>
        <p:nvGrpSpPr>
          <p:cNvPr id="1086" name="그룹 1085">
            <a:extLst>
              <a:ext uri="{FF2B5EF4-FFF2-40B4-BE49-F238E27FC236}">
                <a16:creationId xmlns:a16="http://schemas.microsoft.com/office/drawing/2014/main" id="{2ECC7045-CC39-3437-17A7-CC547A365606}"/>
              </a:ext>
            </a:extLst>
          </p:cNvPr>
          <p:cNvGrpSpPr/>
          <p:nvPr/>
        </p:nvGrpSpPr>
        <p:grpSpPr>
          <a:xfrm>
            <a:off x="2506201" y="2872828"/>
            <a:ext cx="9537698" cy="276999"/>
            <a:chOff x="2506201" y="2420942"/>
            <a:chExt cx="9537698" cy="276999"/>
          </a:xfrm>
        </p:grpSpPr>
        <p:sp>
          <p:nvSpPr>
            <p:cNvPr id="1087" name="사각형: 둥근 모서리 1086">
              <a:extLst>
                <a:ext uri="{FF2B5EF4-FFF2-40B4-BE49-F238E27FC236}">
                  <a16:creationId xmlns:a16="http://schemas.microsoft.com/office/drawing/2014/main" id="{736AB681-38B5-D98F-0210-79552DDEF519}"/>
                </a:ext>
              </a:extLst>
            </p:cNvPr>
            <p:cNvSpPr/>
            <p:nvPr/>
          </p:nvSpPr>
          <p:spPr>
            <a:xfrm>
              <a:off x="250620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72" name="TextBox 3071">
              <a:extLst>
                <a:ext uri="{FF2B5EF4-FFF2-40B4-BE49-F238E27FC236}">
                  <a16:creationId xmlns:a16="http://schemas.microsoft.com/office/drawing/2014/main" id="{237ADEEC-7B5F-3156-E4CB-05F5398EC4EE}"/>
                </a:ext>
              </a:extLst>
            </p:cNvPr>
            <p:cNvSpPr txBox="1"/>
            <p:nvPr/>
          </p:nvSpPr>
          <p:spPr>
            <a:xfrm>
              <a:off x="3008020" y="2420942"/>
              <a:ext cx="12250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ISSUE#22</a:t>
              </a:r>
              <a:endParaRPr lang="ko-KR" altLang="en-US" sz="1200" dirty="0"/>
            </a:p>
          </p:txBody>
        </p:sp>
        <p:sp>
          <p:nvSpPr>
            <p:cNvPr id="3073" name="TextBox 3072">
              <a:extLst>
                <a:ext uri="{FF2B5EF4-FFF2-40B4-BE49-F238E27FC236}">
                  <a16:creationId xmlns:a16="http://schemas.microsoft.com/office/drawing/2014/main" id="{AA4166B5-75B4-CE5B-AC5B-068E3F2AA946}"/>
                </a:ext>
              </a:extLst>
            </p:cNvPr>
            <p:cNvSpPr txBox="1"/>
            <p:nvPr/>
          </p:nvSpPr>
          <p:spPr>
            <a:xfrm>
              <a:off x="4324033" y="2420942"/>
              <a:ext cx="3020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EPS</a:t>
              </a:r>
              <a:r>
                <a:rPr lang="ko-KR" altLang="en-US" sz="1200" dirty="0"/>
                <a:t>실 변경</a:t>
              </a:r>
            </a:p>
          </p:txBody>
        </p:sp>
        <p:sp>
          <p:nvSpPr>
            <p:cNvPr id="3075" name="TextBox 3074">
              <a:extLst>
                <a:ext uri="{FF2B5EF4-FFF2-40B4-BE49-F238E27FC236}">
                  <a16:creationId xmlns:a16="http://schemas.microsoft.com/office/drawing/2014/main" id="{0ABC0936-EA3E-9623-9455-08D8CDEFD2E9}"/>
                </a:ext>
              </a:extLst>
            </p:cNvPr>
            <p:cNvSpPr txBox="1"/>
            <p:nvPr/>
          </p:nvSpPr>
          <p:spPr>
            <a:xfrm>
              <a:off x="8426863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양승호</a:t>
              </a:r>
            </a:p>
          </p:txBody>
        </p:sp>
        <p:sp>
          <p:nvSpPr>
            <p:cNvPr id="3077" name="TextBox 3076">
              <a:extLst>
                <a:ext uri="{FF2B5EF4-FFF2-40B4-BE49-F238E27FC236}">
                  <a16:creationId xmlns:a16="http://schemas.microsoft.com/office/drawing/2014/main" id="{093CB7F8-AF1B-DF75-8007-2C73E0F03E2E}"/>
                </a:ext>
              </a:extLst>
            </p:cNvPr>
            <p:cNvSpPr txBox="1"/>
            <p:nvPr/>
          </p:nvSpPr>
          <p:spPr>
            <a:xfrm>
              <a:off x="9217547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 err="1"/>
                <a:t>김미네</a:t>
              </a:r>
              <a:endParaRPr lang="ko-KR" altLang="en-US" sz="1200" dirty="0"/>
            </a:p>
          </p:txBody>
        </p:sp>
        <p:sp>
          <p:nvSpPr>
            <p:cNvPr id="3078" name="TextBox 3077">
              <a:extLst>
                <a:ext uri="{FF2B5EF4-FFF2-40B4-BE49-F238E27FC236}">
                  <a16:creationId xmlns:a16="http://schemas.microsoft.com/office/drawing/2014/main" id="{7ECE9A8F-9A37-2A7B-4A01-DA71CC2FC22D}"/>
                </a:ext>
              </a:extLst>
            </p:cNvPr>
            <p:cNvSpPr txBox="1"/>
            <p:nvPr/>
          </p:nvSpPr>
          <p:spPr>
            <a:xfrm>
              <a:off x="10864095" y="2420942"/>
              <a:ext cx="1179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TODO(pill</a:t>
              </a:r>
              <a:r>
                <a:rPr lang="ko-KR" altLang="en-US" sz="1200" dirty="0"/>
                <a:t>표현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3079" name="사각형: 둥근 모서리 3078">
              <a:extLst>
                <a:ext uri="{FF2B5EF4-FFF2-40B4-BE49-F238E27FC236}">
                  <a16:creationId xmlns:a16="http://schemas.microsoft.com/office/drawing/2014/main" id="{4A443BED-044B-BD41-9DAB-E9A450FAD45A}"/>
                </a:ext>
              </a:extLst>
            </p:cNvPr>
            <p:cNvSpPr/>
            <p:nvPr/>
          </p:nvSpPr>
          <p:spPr>
            <a:xfrm>
              <a:off x="1040025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80" name="TextBox 3079">
              <a:extLst>
                <a:ext uri="{FF2B5EF4-FFF2-40B4-BE49-F238E27FC236}">
                  <a16:creationId xmlns:a16="http://schemas.microsoft.com/office/drawing/2014/main" id="{770FF787-92B8-9BBE-E0E2-44AE8E706FE5}"/>
                </a:ext>
              </a:extLst>
            </p:cNvPr>
            <p:cNvSpPr txBox="1"/>
            <p:nvPr/>
          </p:nvSpPr>
          <p:spPr>
            <a:xfrm>
              <a:off x="7548857" y="2420942"/>
              <a:ext cx="9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/>
                <a:t>03.08</a:t>
              </a:r>
              <a:r>
                <a:rPr lang="ko-KR" altLang="en-US" sz="1200" dirty="0"/>
                <a:t>회의</a:t>
              </a:r>
            </a:p>
          </p:txBody>
        </p:sp>
      </p:grpSp>
      <p:grpSp>
        <p:nvGrpSpPr>
          <p:cNvPr id="3081" name="그룹 3080">
            <a:extLst>
              <a:ext uri="{FF2B5EF4-FFF2-40B4-BE49-F238E27FC236}">
                <a16:creationId xmlns:a16="http://schemas.microsoft.com/office/drawing/2014/main" id="{18F97CC3-D6E9-C810-C4C6-2E282E0524DC}"/>
              </a:ext>
            </a:extLst>
          </p:cNvPr>
          <p:cNvGrpSpPr/>
          <p:nvPr/>
        </p:nvGrpSpPr>
        <p:grpSpPr>
          <a:xfrm>
            <a:off x="2506201" y="3324714"/>
            <a:ext cx="9537698" cy="461665"/>
            <a:chOff x="2506201" y="2420942"/>
            <a:chExt cx="9537698" cy="461665"/>
          </a:xfrm>
        </p:grpSpPr>
        <p:sp>
          <p:nvSpPr>
            <p:cNvPr id="3082" name="사각형: 둥근 모서리 3081">
              <a:extLst>
                <a:ext uri="{FF2B5EF4-FFF2-40B4-BE49-F238E27FC236}">
                  <a16:creationId xmlns:a16="http://schemas.microsoft.com/office/drawing/2014/main" id="{DAEB2638-B9BF-B41C-4185-CC50DA2D421A}"/>
                </a:ext>
              </a:extLst>
            </p:cNvPr>
            <p:cNvSpPr/>
            <p:nvPr/>
          </p:nvSpPr>
          <p:spPr>
            <a:xfrm>
              <a:off x="250620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83" name="TextBox 3082">
              <a:extLst>
                <a:ext uri="{FF2B5EF4-FFF2-40B4-BE49-F238E27FC236}">
                  <a16:creationId xmlns:a16="http://schemas.microsoft.com/office/drawing/2014/main" id="{5667CDB0-27BA-1D7A-4C87-403AD2644D73}"/>
                </a:ext>
              </a:extLst>
            </p:cNvPr>
            <p:cNvSpPr txBox="1"/>
            <p:nvPr/>
          </p:nvSpPr>
          <p:spPr>
            <a:xfrm>
              <a:off x="3008020" y="2420942"/>
              <a:ext cx="12250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ISSUE#23</a:t>
              </a:r>
              <a:endParaRPr lang="ko-KR" altLang="en-US" sz="1200" dirty="0"/>
            </a:p>
          </p:txBody>
        </p:sp>
        <p:sp>
          <p:nvSpPr>
            <p:cNvPr id="3084" name="TextBox 3083">
              <a:extLst>
                <a:ext uri="{FF2B5EF4-FFF2-40B4-BE49-F238E27FC236}">
                  <a16:creationId xmlns:a16="http://schemas.microsoft.com/office/drawing/2014/main" id="{79A3B96A-8801-8C3E-9CBD-27F51ABB7469}"/>
                </a:ext>
              </a:extLst>
            </p:cNvPr>
            <p:cNvSpPr txBox="1"/>
            <p:nvPr/>
          </p:nvSpPr>
          <p:spPr>
            <a:xfrm>
              <a:off x="4324033" y="2420942"/>
              <a:ext cx="3020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/>
                <a:t>공조실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덕트</a:t>
              </a:r>
              <a:r>
                <a:rPr lang="ko-KR" altLang="en-US" sz="1200" dirty="0"/>
                <a:t> 변경</a:t>
              </a:r>
            </a:p>
          </p:txBody>
        </p:sp>
        <p:sp>
          <p:nvSpPr>
            <p:cNvPr id="3085" name="TextBox 3084">
              <a:extLst>
                <a:ext uri="{FF2B5EF4-FFF2-40B4-BE49-F238E27FC236}">
                  <a16:creationId xmlns:a16="http://schemas.microsoft.com/office/drawing/2014/main" id="{D9602B05-7550-C43B-018E-6E04C2E75916}"/>
                </a:ext>
              </a:extLst>
            </p:cNvPr>
            <p:cNvSpPr txBox="1"/>
            <p:nvPr/>
          </p:nvSpPr>
          <p:spPr>
            <a:xfrm>
              <a:off x="8426863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박현근</a:t>
              </a:r>
            </a:p>
          </p:txBody>
        </p:sp>
        <p:sp>
          <p:nvSpPr>
            <p:cNvPr id="3086" name="TextBox 3085">
              <a:extLst>
                <a:ext uri="{FF2B5EF4-FFF2-40B4-BE49-F238E27FC236}">
                  <a16:creationId xmlns:a16="http://schemas.microsoft.com/office/drawing/2014/main" id="{58154B20-9C3E-5345-F9FF-C047412A78A0}"/>
                </a:ext>
              </a:extLst>
            </p:cNvPr>
            <p:cNvSpPr txBox="1"/>
            <p:nvPr/>
          </p:nvSpPr>
          <p:spPr>
            <a:xfrm>
              <a:off x="9217547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/>
                <a:t>홍지호</a:t>
              </a:r>
              <a:endParaRPr lang="ko-KR" altLang="en-US" sz="1200" dirty="0"/>
            </a:p>
          </p:txBody>
        </p:sp>
        <p:sp>
          <p:nvSpPr>
            <p:cNvPr id="3087" name="TextBox 3086">
              <a:extLst>
                <a:ext uri="{FF2B5EF4-FFF2-40B4-BE49-F238E27FC236}">
                  <a16:creationId xmlns:a16="http://schemas.microsoft.com/office/drawing/2014/main" id="{F8CCF237-EAAF-6790-4AC8-63151B2FA0E2}"/>
                </a:ext>
              </a:extLst>
            </p:cNvPr>
            <p:cNvSpPr txBox="1"/>
            <p:nvPr/>
          </p:nvSpPr>
          <p:spPr>
            <a:xfrm>
              <a:off x="10864095" y="2420942"/>
              <a:ext cx="11798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IN PROGRESS</a:t>
              </a:r>
            </a:p>
            <a:p>
              <a:pPr algn="ctr"/>
              <a:r>
                <a:rPr lang="en-US" altLang="ko-KR" sz="1200" dirty="0"/>
                <a:t>(pill</a:t>
              </a:r>
              <a:r>
                <a:rPr lang="ko-KR" altLang="en-US" sz="1200" dirty="0"/>
                <a:t>표현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3088" name="사각형: 둥근 모서리 3087">
              <a:extLst>
                <a:ext uri="{FF2B5EF4-FFF2-40B4-BE49-F238E27FC236}">
                  <a16:creationId xmlns:a16="http://schemas.microsoft.com/office/drawing/2014/main" id="{F68F941F-4881-A4DC-6F2C-0364939943AC}"/>
                </a:ext>
              </a:extLst>
            </p:cNvPr>
            <p:cNvSpPr/>
            <p:nvPr/>
          </p:nvSpPr>
          <p:spPr>
            <a:xfrm>
              <a:off x="1040025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89" name="TextBox 3088">
              <a:extLst>
                <a:ext uri="{FF2B5EF4-FFF2-40B4-BE49-F238E27FC236}">
                  <a16:creationId xmlns:a16="http://schemas.microsoft.com/office/drawing/2014/main" id="{F721CDD5-4C96-579A-7E87-502971A7FC7E}"/>
                </a:ext>
              </a:extLst>
            </p:cNvPr>
            <p:cNvSpPr txBox="1"/>
            <p:nvPr/>
          </p:nvSpPr>
          <p:spPr>
            <a:xfrm>
              <a:off x="7548857" y="2420942"/>
              <a:ext cx="9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/>
                <a:t>03.08</a:t>
              </a:r>
              <a:r>
                <a:rPr lang="ko-KR" altLang="en-US" sz="1200" dirty="0"/>
                <a:t>회의</a:t>
              </a:r>
            </a:p>
          </p:txBody>
        </p:sp>
      </p:grpSp>
      <p:grpSp>
        <p:nvGrpSpPr>
          <p:cNvPr id="3090" name="그룹 3089">
            <a:extLst>
              <a:ext uri="{FF2B5EF4-FFF2-40B4-BE49-F238E27FC236}">
                <a16:creationId xmlns:a16="http://schemas.microsoft.com/office/drawing/2014/main" id="{8866D010-F328-5AF5-2E08-C984116FDD6E}"/>
              </a:ext>
            </a:extLst>
          </p:cNvPr>
          <p:cNvGrpSpPr/>
          <p:nvPr/>
        </p:nvGrpSpPr>
        <p:grpSpPr>
          <a:xfrm>
            <a:off x="2506201" y="3776600"/>
            <a:ext cx="9537698" cy="461665"/>
            <a:chOff x="2506201" y="2420942"/>
            <a:chExt cx="9537698" cy="461665"/>
          </a:xfrm>
        </p:grpSpPr>
        <p:sp>
          <p:nvSpPr>
            <p:cNvPr id="3091" name="사각형: 둥근 모서리 3090">
              <a:extLst>
                <a:ext uri="{FF2B5EF4-FFF2-40B4-BE49-F238E27FC236}">
                  <a16:creationId xmlns:a16="http://schemas.microsoft.com/office/drawing/2014/main" id="{35CBF864-867C-1334-F8A4-2C47453F6980}"/>
                </a:ext>
              </a:extLst>
            </p:cNvPr>
            <p:cNvSpPr/>
            <p:nvPr/>
          </p:nvSpPr>
          <p:spPr>
            <a:xfrm>
              <a:off x="250620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92" name="TextBox 3091">
              <a:extLst>
                <a:ext uri="{FF2B5EF4-FFF2-40B4-BE49-F238E27FC236}">
                  <a16:creationId xmlns:a16="http://schemas.microsoft.com/office/drawing/2014/main" id="{581A0528-3A7F-E4AB-BD56-49DC5CA54995}"/>
                </a:ext>
              </a:extLst>
            </p:cNvPr>
            <p:cNvSpPr txBox="1"/>
            <p:nvPr/>
          </p:nvSpPr>
          <p:spPr>
            <a:xfrm>
              <a:off x="3008020" y="2420942"/>
              <a:ext cx="12250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ISSUE#24</a:t>
              </a:r>
              <a:endParaRPr lang="ko-KR" altLang="en-US" sz="1200" dirty="0"/>
            </a:p>
          </p:txBody>
        </p:sp>
        <p:sp>
          <p:nvSpPr>
            <p:cNvPr id="3093" name="TextBox 3092">
              <a:extLst>
                <a:ext uri="{FF2B5EF4-FFF2-40B4-BE49-F238E27FC236}">
                  <a16:creationId xmlns:a16="http://schemas.microsoft.com/office/drawing/2014/main" id="{8819CC42-0B4B-FDB8-5714-958BA03DC0BC}"/>
                </a:ext>
              </a:extLst>
            </p:cNvPr>
            <p:cNvSpPr txBox="1"/>
            <p:nvPr/>
          </p:nvSpPr>
          <p:spPr>
            <a:xfrm>
              <a:off x="4324033" y="2420942"/>
              <a:ext cx="3020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/>
                <a:t>구조보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스프링클러 배관 간섭</a:t>
              </a:r>
            </a:p>
          </p:txBody>
        </p:sp>
        <p:sp>
          <p:nvSpPr>
            <p:cNvPr id="3094" name="TextBox 3093">
              <a:extLst>
                <a:ext uri="{FF2B5EF4-FFF2-40B4-BE49-F238E27FC236}">
                  <a16:creationId xmlns:a16="http://schemas.microsoft.com/office/drawing/2014/main" id="{31D4A6DB-4887-4061-7EC5-3E8FCFA0B394}"/>
                </a:ext>
              </a:extLst>
            </p:cNvPr>
            <p:cNvSpPr txBox="1"/>
            <p:nvPr/>
          </p:nvSpPr>
          <p:spPr>
            <a:xfrm>
              <a:off x="8426863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 err="1"/>
                <a:t>송하용</a:t>
              </a:r>
              <a:endParaRPr lang="ko-KR" altLang="en-US" sz="1200" dirty="0"/>
            </a:p>
          </p:txBody>
        </p:sp>
        <p:sp>
          <p:nvSpPr>
            <p:cNvPr id="3095" name="TextBox 3094">
              <a:extLst>
                <a:ext uri="{FF2B5EF4-FFF2-40B4-BE49-F238E27FC236}">
                  <a16:creationId xmlns:a16="http://schemas.microsoft.com/office/drawing/2014/main" id="{82BB9B94-EED3-38FE-8448-C300239C04B2}"/>
                </a:ext>
              </a:extLst>
            </p:cNvPr>
            <p:cNvSpPr txBox="1"/>
            <p:nvPr/>
          </p:nvSpPr>
          <p:spPr>
            <a:xfrm>
              <a:off x="9217547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/>
                <a:t>홍지호</a:t>
              </a:r>
              <a:endParaRPr lang="ko-KR" altLang="en-US" sz="1200" dirty="0"/>
            </a:p>
          </p:txBody>
        </p:sp>
        <p:sp>
          <p:nvSpPr>
            <p:cNvPr id="3096" name="TextBox 3095">
              <a:extLst>
                <a:ext uri="{FF2B5EF4-FFF2-40B4-BE49-F238E27FC236}">
                  <a16:creationId xmlns:a16="http://schemas.microsoft.com/office/drawing/2014/main" id="{D9DC059E-CBF8-17B6-50A2-31936EE5AE3F}"/>
                </a:ext>
              </a:extLst>
            </p:cNvPr>
            <p:cNvSpPr txBox="1"/>
            <p:nvPr/>
          </p:nvSpPr>
          <p:spPr>
            <a:xfrm>
              <a:off x="10864095" y="2420942"/>
              <a:ext cx="11798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IN REVIEW</a:t>
              </a:r>
            </a:p>
            <a:p>
              <a:pPr algn="ctr"/>
              <a:r>
                <a:rPr lang="en-US" altLang="ko-KR" sz="1200" dirty="0"/>
                <a:t>(pill</a:t>
              </a:r>
              <a:r>
                <a:rPr lang="ko-KR" altLang="en-US" sz="1200" dirty="0"/>
                <a:t>표현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3097" name="사각형: 둥근 모서리 3096">
              <a:extLst>
                <a:ext uri="{FF2B5EF4-FFF2-40B4-BE49-F238E27FC236}">
                  <a16:creationId xmlns:a16="http://schemas.microsoft.com/office/drawing/2014/main" id="{EC39BECC-2E61-5A38-6378-E9CC040412F6}"/>
                </a:ext>
              </a:extLst>
            </p:cNvPr>
            <p:cNvSpPr/>
            <p:nvPr/>
          </p:nvSpPr>
          <p:spPr>
            <a:xfrm>
              <a:off x="1040025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98" name="TextBox 3097">
              <a:extLst>
                <a:ext uri="{FF2B5EF4-FFF2-40B4-BE49-F238E27FC236}">
                  <a16:creationId xmlns:a16="http://schemas.microsoft.com/office/drawing/2014/main" id="{46D09ED1-835D-6D86-8ED9-B811F29F016C}"/>
                </a:ext>
              </a:extLst>
            </p:cNvPr>
            <p:cNvSpPr txBox="1"/>
            <p:nvPr/>
          </p:nvSpPr>
          <p:spPr>
            <a:xfrm>
              <a:off x="7548857" y="2420942"/>
              <a:ext cx="9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/>
                <a:t>03.08</a:t>
              </a:r>
              <a:r>
                <a:rPr lang="ko-KR" altLang="en-US" sz="1200" dirty="0"/>
                <a:t>회의</a:t>
              </a:r>
            </a:p>
          </p:txBody>
        </p:sp>
      </p:grpSp>
      <p:grpSp>
        <p:nvGrpSpPr>
          <p:cNvPr id="3099" name="그룹 3098">
            <a:extLst>
              <a:ext uri="{FF2B5EF4-FFF2-40B4-BE49-F238E27FC236}">
                <a16:creationId xmlns:a16="http://schemas.microsoft.com/office/drawing/2014/main" id="{C7677E90-242A-0164-6DFD-652DC76BE6D4}"/>
              </a:ext>
            </a:extLst>
          </p:cNvPr>
          <p:cNvGrpSpPr/>
          <p:nvPr/>
        </p:nvGrpSpPr>
        <p:grpSpPr>
          <a:xfrm>
            <a:off x="2506201" y="4228486"/>
            <a:ext cx="9537698" cy="276999"/>
            <a:chOff x="2506201" y="2420942"/>
            <a:chExt cx="9537698" cy="276999"/>
          </a:xfrm>
        </p:grpSpPr>
        <p:sp>
          <p:nvSpPr>
            <p:cNvPr id="3100" name="사각형: 둥근 모서리 3099">
              <a:extLst>
                <a:ext uri="{FF2B5EF4-FFF2-40B4-BE49-F238E27FC236}">
                  <a16:creationId xmlns:a16="http://schemas.microsoft.com/office/drawing/2014/main" id="{CF5D4D12-E92E-0C0E-49F8-6B7564AC7344}"/>
                </a:ext>
              </a:extLst>
            </p:cNvPr>
            <p:cNvSpPr/>
            <p:nvPr/>
          </p:nvSpPr>
          <p:spPr>
            <a:xfrm>
              <a:off x="250620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01" name="TextBox 3100">
              <a:extLst>
                <a:ext uri="{FF2B5EF4-FFF2-40B4-BE49-F238E27FC236}">
                  <a16:creationId xmlns:a16="http://schemas.microsoft.com/office/drawing/2014/main" id="{0F59DECB-B256-6D78-1574-73DEEF980F3B}"/>
                </a:ext>
              </a:extLst>
            </p:cNvPr>
            <p:cNvSpPr txBox="1"/>
            <p:nvPr/>
          </p:nvSpPr>
          <p:spPr>
            <a:xfrm>
              <a:off x="3008020" y="2420942"/>
              <a:ext cx="12250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ISSUE#25</a:t>
              </a:r>
              <a:endParaRPr lang="ko-KR" altLang="en-US" sz="1200" dirty="0"/>
            </a:p>
          </p:txBody>
        </p:sp>
        <p:sp>
          <p:nvSpPr>
            <p:cNvPr id="3102" name="TextBox 3101">
              <a:extLst>
                <a:ext uri="{FF2B5EF4-FFF2-40B4-BE49-F238E27FC236}">
                  <a16:creationId xmlns:a16="http://schemas.microsoft.com/office/drawing/2014/main" id="{3CDFCAC3-7C8E-3BEB-F1D4-285C5B29E1CD}"/>
                </a:ext>
              </a:extLst>
            </p:cNvPr>
            <p:cNvSpPr txBox="1"/>
            <p:nvPr/>
          </p:nvSpPr>
          <p:spPr>
            <a:xfrm>
              <a:off x="4324033" y="2420942"/>
              <a:ext cx="3020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장애인 </a:t>
              </a:r>
              <a:r>
                <a:rPr lang="ko-KR" altLang="en-US" sz="1200" dirty="0" err="1"/>
                <a:t>주차칸</a:t>
              </a:r>
              <a:r>
                <a:rPr lang="ko-KR" altLang="en-US" sz="1200" dirty="0"/>
                <a:t> 배치 변경</a:t>
              </a:r>
            </a:p>
          </p:txBody>
        </p:sp>
        <p:sp>
          <p:nvSpPr>
            <p:cNvPr id="3103" name="TextBox 3102">
              <a:extLst>
                <a:ext uri="{FF2B5EF4-FFF2-40B4-BE49-F238E27FC236}">
                  <a16:creationId xmlns:a16="http://schemas.microsoft.com/office/drawing/2014/main" id="{187EDAB3-0515-0B58-BFF8-8EC796243DF6}"/>
                </a:ext>
              </a:extLst>
            </p:cNvPr>
            <p:cNvSpPr txBox="1"/>
            <p:nvPr/>
          </p:nvSpPr>
          <p:spPr>
            <a:xfrm>
              <a:off x="8426863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 err="1"/>
                <a:t>송하용</a:t>
              </a:r>
              <a:endParaRPr lang="ko-KR" altLang="en-US" sz="1200" dirty="0"/>
            </a:p>
          </p:txBody>
        </p:sp>
        <p:sp>
          <p:nvSpPr>
            <p:cNvPr id="3104" name="TextBox 3103">
              <a:extLst>
                <a:ext uri="{FF2B5EF4-FFF2-40B4-BE49-F238E27FC236}">
                  <a16:creationId xmlns:a16="http://schemas.microsoft.com/office/drawing/2014/main" id="{B503AB47-5F2B-449E-46A5-E8FF7C654419}"/>
                </a:ext>
              </a:extLst>
            </p:cNvPr>
            <p:cNvSpPr txBox="1"/>
            <p:nvPr/>
          </p:nvSpPr>
          <p:spPr>
            <a:xfrm>
              <a:off x="9217547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 err="1"/>
                <a:t>김미네</a:t>
              </a:r>
              <a:endParaRPr lang="ko-KR" altLang="en-US" sz="1200" dirty="0"/>
            </a:p>
          </p:txBody>
        </p:sp>
        <p:sp>
          <p:nvSpPr>
            <p:cNvPr id="3105" name="TextBox 3104">
              <a:extLst>
                <a:ext uri="{FF2B5EF4-FFF2-40B4-BE49-F238E27FC236}">
                  <a16:creationId xmlns:a16="http://schemas.microsoft.com/office/drawing/2014/main" id="{8A76F00B-F388-460B-68ED-6B224D6F7CB0}"/>
                </a:ext>
              </a:extLst>
            </p:cNvPr>
            <p:cNvSpPr txBox="1"/>
            <p:nvPr/>
          </p:nvSpPr>
          <p:spPr>
            <a:xfrm>
              <a:off x="10864095" y="2420942"/>
              <a:ext cx="1179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DONE(pill</a:t>
              </a:r>
              <a:r>
                <a:rPr lang="ko-KR" altLang="en-US" sz="1200" dirty="0"/>
                <a:t>표현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3106" name="사각형: 둥근 모서리 3105">
              <a:extLst>
                <a:ext uri="{FF2B5EF4-FFF2-40B4-BE49-F238E27FC236}">
                  <a16:creationId xmlns:a16="http://schemas.microsoft.com/office/drawing/2014/main" id="{74E6A532-DEB2-D166-E800-917FDC96ADF2}"/>
                </a:ext>
              </a:extLst>
            </p:cNvPr>
            <p:cNvSpPr/>
            <p:nvPr/>
          </p:nvSpPr>
          <p:spPr>
            <a:xfrm>
              <a:off x="1040025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07" name="TextBox 3106">
              <a:extLst>
                <a:ext uri="{FF2B5EF4-FFF2-40B4-BE49-F238E27FC236}">
                  <a16:creationId xmlns:a16="http://schemas.microsoft.com/office/drawing/2014/main" id="{2B158D3F-DE4C-7BCF-10C4-75204839E234}"/>
                </a:ext>
              </a:extLst>
            </p:cNvPr>
            <p:cNvSpPr txBox="1"/>
            <p:nvPr/>
          </p:nvSpPr>
          <p:spPr>
            <a:xfrm>
              <a:off x="7548857" y="2420942"/>
              <a:ext cx="9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/>
                <a:t>03.08</a:t>
              </a:r>
              <a:r>
                <a:rPr lang="ko-KR" altLang="en-US" sz="1200" dirty="0"/>
                <a:t>회의</a:t>
              </a:r>
            </a:p>
          </p:txBody>
        </p:sp>
      </p:grpSp>
      <p:grpSp>
        <p:nvGrpSpPr>
          <p:cNvPr id="3108" name="그룹 3107">
            <a:extLst>
              <a:ext uri="{FF2B5EF4-FFF2-40B4-BE49-F238E27FC236}">
                <a16:creationId xmlns:a16="http://schemas.microsoft.com/office/drawing/2014/main" id="{DB887FFA-33E2-4AE2-34FA-DFDB7EED2833}"/>
              </a:ext>
            </a:extLst>
          </p:cNvPr>
          <p:cNvGrpSpPr/>
          <p:nvPr/>
        </p:nvGrpSpPr>
        <p:grpSpPr>
          <a:xfrm>
            <a:off x="2506201" y="4680372"/>
            <a:ext cx="9537698" cy="276999"/>
            <a:chOff x="2506201" y="2420942"/>
            <a:chExt cx="9537698" cy="276999"/>
          </a:xfrm>
        </p:grpSpPr>
        <p:sp>
          <p:nvSpPr>
            <p:cNvPr id="3109" name="사각형: 둥근 모서리 3108">
              <a:extLst>
                <a:ext uri="{FF2B5EF4-FFF2-40B4-BE49-F238E27FC236}">
                  <a16:creationId xmlns:a16="http://schemas.microsoft.com/office/drawing/2014/main" id="{6033DDDB-6C99-5827-EBC1-960F851BAD13}"/>
                </a:ext>
              </a:extLst>
            </p:cNvPr>
            <p:cNvSpPr/>
            <p:nvPr/>
          </p:nvSpPr>
          <p:spPr>
            <a:xfrm>
              <a:off x="250620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10" name="TextBox 3109">
              <a:extLst>
                <a:ext uri="{FF2B5EF4-FFF2-40B4-BE49-F238E27FC236}">
                  <a16:creationId xmlns:a16="http://schemas.microsoft.com/office/drawing/2014/main" id="{0D2D39C2-8E65-7595-A25F-528E582521F3}"/>
                </a:ext>
              </a:extLst>
            </p:cNvPr>
            <p:cNvSpPr txBox="1"/>
            <p:nvPr/>
          </p:nvSpPr>
          <p:spPr>
            <a:xfrm>
              <a:off x="3008020" y="2420942"/>
              <a:ext cx="12250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ISSUE#26</a:t>
              </a:r>
              <a:endParaRPr lang="ko-KR" altLang="en-US" sz="1200" dirty="0"/>
            </a:p>
          </p:txBody>
        </p:sp>
        <p:sp>
          <p:nvSpPr>
            <p:cNvPr id="3111" name="TextBox 3110">
              <a:extLst>
                <a:ext uri="{FF2B5EF4-FFF2-40B4-BE49-F238E27FC236}">
                  <a16:creationId xmlns:a16="http://schemas.microsoft.com/office/drawing/2014/main" id="{864DCABF-3976-A373-FF58-5804064A35C8}"/>
                </a:ext>
              </a:extLst>
            </p:cNvPr>
            <p:cNvSpPr txBox="1"/>
            <p:nvPr/>
          </p:nvSpPr>
          <p:spPr>
            <a:xfrm>
              <a:off x="4324033" y="2420942"/>
              <a:ext cx="3020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배수관 간섭</a:t>
              </a:r>
            </a:p>
          </p:txBody>
        </p:sp>
        <p:sp>
          <p:nvSpPr>
            <p:cNvPr id="3112" name="TextBox 3111">
              <a:extLst>
                <a:ext uri="{FF2B5EF4-FFF2-40B4-BE49-F238E27FC236}">
                  <a16:creationId xmlns:a16="http://schemas.microsoft.com/office/drawing/2014/main" id="{8764D198-6227-485A-58D5-C6A3ECC08281}"/>
                </a:ext>
              </a:extLst>
            </p:cNvPr>
            <p:cNvSpPr txBox="1"/>
            <p:nvPr/>
          </p:nvSpPr>
          <p:spPr>
            <a:xfrm>
              <a:off x="8426863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양승호</a:t>
              </a:r>
            </a:p>
          </p:txBody>
        </p:sp>
        <p:sp>
          <p:nvSpPr>
            <p:cNvPr id="3113" name="TextBox 3112">
              <a:extLst>
                <a:ext uri="{FF2B5EF4-FFF2-40B4-BE49-F238E27FC236}">
                  <a16:creationId xmlns:a16="http://schemas.microsoft.com/office/drawing/2014/main" id="{0A888E45-A0CA-CDAA-2E01-545B5B6F610E}"/>
                </a:ext>
              </a:extLst>
            </p:cNvPr>
            <p:cNvSpPr txBox="1"/>
            <p:nvPr/>
          </p:nvSpPr>
          <p:spPr>
            <a:xfrm>
              <a:off x="9217547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정지원</a:t>
              </a:r>
            </a:p>
          </p:txBody>
        </p:sp>
        <p:sp>
          <p:nvSpPr>
            <p:cNvPr id="3114" name="TextBox 3113">
              <a:extLst>
                <a:ext uri="{FF2B5EF4-FFF2-40B4-BE49-F238E27FC236}">
                  <a16:creationId xmlns:a16="http://schemas.microsoft.com/office/drawing/2014/main" id="{20ADBFCB-509A-F2DA-73FA-1824F6382091}"/>
                </a:ext>
              </a:extLst>
            </p:cNvPr>
            <p:cNvSpPr txBox="1"/>
            <p:nvPr/>
          </p:nvSpPr>
          <p:spPr>
            <a:xfrm>
              <a:off x="10864095" y="2420942"/>
              <a:ext cx="1179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DONE(pill</a:t>
              </a:r>
              <a:r>
                <a:rPr lang="ko-KR" altLang="en-US" sz="1200" dirty="0"/>
                <a:t>표현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3115" name="사각형: 둥근 모서리 3114">
              <a:extLst>
                <a:ext uri="{FF2B5EF4-FFF2-40B4-BE49-F238E27FC236}">
                  <a16:creationId xmlns:a16="http://schemas.microsoft.com/office/drawing/2014/main" id="{358DEA7C-D814-5442-CBD2-0563E87C68BE}"/>
                </a:ext>
              </a:extLst>
            </p:cNvPr>
            <p:cNvSpPr/>
            <p:nvPr/>
          </p:nvSpPr>
          <p:spPr>
            <a:xfrm>
              <a:off x="1040025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16" name="TextBox 3115">
              <a:extLst>
                <a:ext uri="{FF2B5EF4-FFF2-40B4-BE49-F238E27FC236}">
                  <a16:creationId xmlns:a16="http://schemas.microsoft.com/office/drawing/2014/main" id="{5D69D289-FFD1-5CD2-C59F-5735FBB8B706}"/>
                </a:ext>
              </a:extLst>
            </p:cNvPr>
            <p:cNvSpPr txBox="1"/>
            <p:nvPr/>
          </p:nvSpPr>
          <p:spPr>
            <a:xfrm>
              <a:off x="7548857" y="2420942"/>
              <a:ext cx="9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-</a:t>
              </a:r>
              <a:endParaRPr lang="ko-KR" altLang="en-US" sz="1200" dirty="0"/>
            </a:p>
          </p:txBody>
        </p:sp>
      </p:grpSp>
      <p:grpSp>
        <p:nvGrpSpPr>
          <p:cNvPr id="3117" name="그룹 3116">
            <a:extLst>
              <a:ext uri="{FF2B5EF4-FFF2-40B4-BE49-F238E27FC236}">
                <a16:creationId xmlns:a16="http://schemas.microsoft.com/office/drawing/2014/main" id="{520CDDFC-2CBC-2CD4-92BA-2DD141270E97}"/>
              </a:ext>
            </a:extLst>
          </p:cNvPr>
          <p:cNvGrpSpPr/>
          <p:nvPr/>
        </p:nvGrpSpPr>
        <p:grpSpPr>
          <a:xfrm>
            <a:off x="2506201" y="5132256"/>
            <a:ext cx="9537698" cy="276999"/>
            <a:chOff x="2506201" y="2420942"/>
            <a:chExt cx="9537698" cy="276999"/>
          </a:xfrm>
        </p:grpSpPr>
        <p:sp>
          <p:nvSpPr>
            <p:cNvPr id="3118" name="사각형: 둥근 모서리 3117">
              <a:extLst>
                <a:ext uri="{FF2B5EF4-FFF2-40B4-BE49-F238E27FC236}">
                  <a16:creationId xmlns:a16="http://schemas.microsoft.com/office/drawing/2014/main" id="{40384437-0FFE-9EAF-81E8-650B0DDF81CC}"/>
                </a:ext>
              </a:extLst>
            </p:cNvPr>
            <p:cNvSpPr/>
            <p:nvPr/>
          </p:nvSpPr>
          <p:spPr>
            <a:xfrm>
              <a:off x="250620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19" name="TextBox 3118">
              <a:extLst>
                <a:ext uri="{FF2B5EF4-FFF2-40B4-BE49-F238E27FC236}">
                  <a16:creationId xmlns:a16="http://schemas.microsoft.com/office/drawing/2014/main" id="{FFE63176-2966-8715-9A91-02849278F017}"/>
                </a:ext>
              </a:extLst>
            </p:cNvPr>
            <p:cNvSpPr txBox="1"/>
            <p:nvPr/>
          </p:nvSpPr>
          <p:spPr>
            <a:xfrm>
              <a:off x="3008020" y="2420942"/>
              <a:ext cx="12250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ISSUE#27</a:t>
              </a:r>
              <a:endParaRPr lang="ko-KR" altLang="en-US" sz="1200" dirty="0"/>
            </a:p>
          </p:txBody>
        </p:sp>
        <p:sp>
          <p:nvSpPr>
            <p:cNvPr id="3120" name="TextBox 3119">
              <a:extLst>
                <a:ext uri="{FF2B5EF4-FFF2-40B4-BE49-F238E27FC236}">
                  <a16:creationId xmlns:a16="http://schemas.microsoft.com/office/drawing/2014/main" id="{F10104DA-4ECC-CA5E-AC78-3FAC0E0184D2}"/>
                </a:ext>
              </a:extLst>
            </p:cNvPr>
            <p:cNvSpPr txBox="1"/>
            <p:nvPr/>
          </p:nvSpPr>
          <p:spPr>
            <a:xfrm>
              <a:off x="4324033" y="2420942"/>
              <a:ext cx="3020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회의실 확장</a:t>
              </a:r>
            </a:p>
          </p:txBody>
        </p:sp>
        <p:sp>
          <p:nvSpPr>
            <p:cNvPr id="3121" name="TextBox 3120">
              <a:extLst>
                <a:ext uri="{FF2B5EF4-FFF2-40B4-BE49-F238E27FC236}">
                  <a16:creationId xmlns:a16="http://schemas.microsoft.com/office/drawing/2014/main" id="{962751FD-A939-EFD7-6F7A-E0F9A37A55CD}"/>
                </a:ext>
              </a:extLst>
            </p:cNvPr>
            <p:cNvSpPr txBox="1"/>
            <p:nvPr/>
          </p:nvSpPr>
          <p:spPr>
            <a:xfrm>
              <a:off x="8426863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박현근</a:t>
              </a:r>
            </a:p>
          </p:txBody>
        </p:sp>
        <p:sp>
          <p:nvSpPr>
            <p:cNvPr id="3122" name="TextBox 3121">
              <a:extLst>
                <a:ext uri="{FF2B5EF4-FFF2-40B4-BE49-F238E27FC236}">
                  <a16:creationId xmlns:a16="http://schemas.microsoft.com/office/drawing/2014/main" id="{AA74E207-A4A8-CACB-CA66-B40F74A7A5F6}"/>
                </a:ext>
              </a:extLst>
            </p:cNvPr>
            <p:cNvSpPr txBox="1"/>
            <p:nvPr/>
          </p:nvSpPr>
          <p:spPr>
            <a:xfrm>
              <a:off x="9217547" y="2420942"/>
              <a:ext cx="8575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정지원</a:t>
              </a:r>
            </a:p>
          </p:txBody>
        </p:sp>
        <p:sp>
          <p:nvSpPr>
            <p:cNvPr id="3123" name="TextBox 3122">
              <a:extLst>
                <a:ext uri="{FF2B5EF4-FFF2-40B4-BE49-F238E27FC236}">
                  <a16:creationId xmlns:a16="http://schemas.microsoft.com/office/drawing/2014/main" id="{46EA5338-4F83-7D94-B14D-3ECE96F81594}"/>
                </a:ext>
              </a:extLst>
            </p:cNvPr>
            <p:cNvSpPr txBox="1"/>
            <p:nvPr/>
          </p:nvSpPr>
          <p:spPr>
            <a:xfrm>
              <a:off x="10864095" y="2420942"/>
              <a:ext cx="1179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DONE(pill</a:t>
              </a:r>
              <a:r>
                <a:rPr lang="ko-KR" altLang="en-US" sz="1200" dirty="0"/>
                <a:t>표현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3124" name="사각형: 둥근 모서리 3123">
              <a:extLst>
                <a:ext uri="{FF2B5EF4-FFF2-40B4-BE49-F238E27FC236}">
                  <a16:creationId xmlns:a16="http://schemas.microsoft.com/office/drawing/2014/main" id="{B12D5F70-46DE-1D6C-8727-937C061FFB44}"/>
                </a:ext>
              </a:extLst>
            </p:cNvPr>
            <p:cNvSpPr/>
            <p:nvPr/>
          </p:nvSpPr>
          <p:spPr>
            <a:xfrm>
              <a:off x="10400251" y="2441013"/>
              <a:ext cx="216000" cy="2160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25" name="TextBox 3124">
              <a:extLst>
                <a:ext uri="{FF2B5EF4-FFF2-40B4-BE49-F238E27FC236}">
                  <a16:creationId xmlns:a16="http://schemas.microsoft.com/office/drawing/2014/main" id="{0556C3CF-A47B-34EB-E13C-93064A4F070C}"/>
                </a:ext>
              </a:extLst>
            </p:cNvPr>
            <p:cNvSpPr txBox="1"/>
            <p:nvPr/>
          </p:nvSpPr>
          <p:spPr>
            <a:xfrm>
              <a:off x="7548857" y="2420942"/>
              <a:ext cx="9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-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754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F0660-421F-14C3-C8C4-6D2B25AE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B4CE757-F3E7-E4D4-2DBD-46E8BC59E2A9}"/>
              </a:ext>
            </a:extLst>
          </p:cNvPr>
          <p:cNvCxnSpPr/>
          <p:nvPr/>
        </p:nvCxnSpPr>
        <p:spPr>
          <a:xfrm>
            <a:off x="-57150" y="673100"/>
            <a:ext cx="12249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2106BFD-BF2C-A69F-D3BF-26B9DF449C38}"/>
              </a:ext>
            </a:extLst>
          </p:cNvPr>
          <p:cNvSpPr/>
          <p:nvPr/>
        </p:nvSpPr>
        <p:spPr>
          <a:xfrm>
            <a:off x="2241498" y="197923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5448F3-20DB-CDEF-EC06-CB6A8F1B202D}"/>
              </a:ext>
            </a:extLst>
          </p:cNvPr>
          <p:cNvSpPr txBox="1"/>
          <p:nvPr/>
        </p:nvSpPr>
        <p:spPr>
          <a:xfrm>
            <a:off x="2576150" y="147734"/>
            <a:ext cx="416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Demo Project – </a:t>
            </a:r>
            <a:r>
              <a:rPr lang="ko-KR" altLang="en-US" dirty="0"/>
              <a:t>마곡동 주민공동시설</a:t>
            </a: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08841FD5-BD02-2137-4967-8B64960CAB84}"/>
              </a:ext>
            </a:extLst>
          </p:cNvPr>
          <p:cNvSpPr/>
          <p:nvPr/>
        </p:nvSpPr>
        <p:spPr>
          <a:xfrm>
            <a:off x="694047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A5233-990D-D4F0-8634-DD60166E5910}"/>
              </a:ext>
            </a:extLst>
          </p:cNvPr>
          <p:cNvSpPr txBox="1"/>
          <p:nvPr/>
        </p:nvSpPr>
        <p:spPr>
          <a:xfrm>
            <a:off x="10756900" y="147734"/>
            <a:ext cx="212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양승호</a:t>
            </a:r>
            <a:endParaRPr lang="ko-KR" altLang="en-US" dirty="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A19B5866-262A-C467-62F3-FD62681CDD9F}"/>
              </a:ext>
            </a:extLst>
          </p:cNvPr>
          <p:cNvSpPr/>
          <p:nvPr/>
        </p:nvSpPr>
        <p:spPr>
          <a:xfrm>
            <a:off x="11766525" y="299107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2C633F0-12F7-DDB9-31B0-F942281E6ADD}"/>
              </a:ext>
            </a:extLst>
          </p:cNvPr>
          <p:cNvCxnSpPr>
            <a:cxnSpLocks/>
          </p:cNvCxnSpPr>
          <p:nvPr/>
        </p:nvCxnSpPr>
        <p:spPr>
          <a:xfrm>
            <a:off x="201295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폰트, 로고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B4B44A-C961-AF85-D56E-4987307F5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61" y="60858"/>
            <a:ext cx="1570488" cy="5621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42CF702-DD3A-4647-5B66-04832A3F4963}"/>
              </a:ext>
            </a:extLst>
          </p:cNvPr>
          <p:cNvSpPr txBox="1"/>
          <p:nvPr/>
        </p:nvSpPr>
        <p:spPr>
          <a:xfrm>
            <a:off x="495300" y="888982"/>
            <a:ext cx="151765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대시보드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도면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이슈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사진대지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멤버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보안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F52E291-5004-C6C9-E3D3-B65646A222EA}"/>
              </a:ext>
            </a:extLst>
          </p:cNvPr>
          <p:cNvSpPr/>
          <p:nvPr/>
        </p:nvSpPr>
        <p:spPr>
          <a:xfrm>
            <a:off x="148101" y="1008089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366B12E-A7AA-3831-4A06-8E47AC8A4F64}"/>
              </a:ext>
            </a:extLst>
          </p:cNvPr>
          <p:cNvSpPr/>
          <p:nvPr/>
        </p:nvSpPr>
        <p:spPr>
          <a:xfrm>
            <a:off x="148101" y="1417956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3F85D68-3A85-7E72-B93D-111640A8D134}"/>
              </a:ext>
            </a:extLst>
          </p:cNvPr>
          <p:cNvSpPr/>
          <p:nvPr/>
        </p:nvSpPr>
        <p:spPr>
          <a:xfrm>
            <a:off x="148101" y="1827823"/>
            <a:ext cx="288000" cy="28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8131DA2-9477-1CC2-82F9-2F54DC7C391A}"/>
              </a:ext>
            </a:extLst>
          </p:cNvPr>
          <p:cNvSpPr/>
          <p:nvPr/>
        </p:nvSpPr>
        <p:spPr>
          <a:xfrm>
            <a:off x="148101" y="2237690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9238225-1854-F553-A254-0EADA3B08D20}"/>
              </a:ext>
            </a:extLst>
          </p:cNvPr>
          <p:cNvSpPr/>
          <p:nvPr/>
        </p:nvSpPr>
        <p:spPr>
          <a:xfrm>
            <a:off x="148101" y="3057423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5814147-4D7C-3205-B506-4395AD32A153}"/>
              </a:ext>
            </a:extLst>
          </p:cNvPr>
          <p:cNvSpPr/>
          <p:nvPr/>
        </p:nvSpPr>
        <p:spPr>
          <a:xfrm>
            <a:off x="148101" y="2647557"/>
            <a:ext cx="288000" cy="288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Picture 10" descr="Bell - Free music icons">
            <a:extLst>
              <a:ext uri="{FF2B5EF4-FFF2-40B4-BE49-F238E27FC236}">
                <a16:creationId xmlns:a16="http://schemas.microsoft.com/office/drawing/2014/main" id="{50A6B604-B2CB-81F3-FF39-3EC47D98F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743" y="208197"/>
            <a:ext cx="287919" cy="25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User icon icon | Premium AI-generated vector">
            <a:extLst>
              <a:ext uri="{FF2B5EF4-FFF2-40B4-BE49-F238E27FC236}">
                <a16:creationId xmlns:a16="http://schemas.microsoft.com/office/drawing/2014/main" id="{CE9CD7DF-4C3F-9B91-1CF3-24BC4778D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4431" y="131202"/>
            <a:ext cx="507640" cy="43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01BC6E-25FD-ED51-7812-367A915F9423}"/>
              </a:ext>
            </a:extLst>
          </p:cNvPr>
          <p:cNvSpPr/>
          <p:nvPr/>
        </p:nvSpPr>
        <p:spPr>
          <a:xfrm>
            <a:off x="2216150" y="839629"/>
            <a:ext cx="9658371" cy="360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   ISSUE#21   </a:t>
            </a:r>
            <a:r>
              <a:rPr lang="ko-KR" altLang="en-US" dirty="0"/>
              <a:t>                                                                                               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AF88BF7-AC6D-B555-DC23-2B4BF3970300}"/>
              </a:ext>
            </a:extLst>
          </p:cNvPr>
          <p:cNvSpPr/>
          <p:nvPr/>
        </p:nvSpPr>
        <p:spPr>
          <a:xfrm>
            <a:off x="2205756" y="1190165"/>
            <a:ext cx="5795233" cy="5081417"/>
          </a:xfrm>
          <a:prstGeom prst="roundRect">
            <a:avLst>
              <a:gd name="adj" fmla="val 348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chemeClr val="tx1"/>
                </a:solidFill>
              </a:rPr>
              <a:t>화장실 마감재 변경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내용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 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층을 제외한 </a:t>
            </a:r>
            <a:r>
              <a:rPr lang="ko-KR" altLang="en-US" sz="1400" dirty="0" err="1">
                <a:solidFill>
                  <a:schemeClr val="tx1"/>
                </a:solidFill>
              </a:rPr>
              <a:t>전층</a:t>
            </a:r>
            <a:r>
              <a:rPr lang="ko-KR" altLang="en-US" sz="1400" dirty="0">
                <a:solidFill>
                  <a:schemeClr val="tx1"/>
                </a:solidFill>
              </a:rPr>
              <a:t> 화장실 마감재 타일 </a:t>
            </a:r>
            <a:r>
              <a:rPr lang="en-US" altLang="ko-KR" sz="1400" dirty="0">
                <a:solidFill>
                  <a:schemeClr val="tx1"/>
                </a:solidFill>
              </a:rPr>
              <a:t>300x300</a:t>
            </a:r>
            <a:r>
              <a:rPr lang="ko-KR" altLang="en-US" sz="1400" dirty="0">
                <a:solidFill>
                  <a:schemeClr val="tx1"/>
                </a:solidFill>
              </a:rPr>
              <a:t>에서 </a:t>
            </a:r>
            <a:r>
              <a:rPr lang="en-US" altLang="ko-KR" sz="1400" dirty="0">
                <a:solidFill>
                  <a:schemeClr val="tx1"/>
                </a:solidFill>
              </a:rPr>
              <a:t>600x900</a:t>
            </a:r>
            <a:r>
              <a:rPr lang="ko-KR" altLang="en-US" sz="1400" dirty="0">
                <a:solidFill>
                  <a:schemeClr val="tx1"/>
                </a:solidFill>
              </a:rPr>
              <a:t>으로 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</a:t>
            </a:r>
            <a:r>
              <a:rPr lang="ko-KR" altLang="en-US" sz="1400" dirty="0">
                <a:solidFill>
                  <a:schemeClr val="tx1"/>
                </a:solidFill>
              </a:rPr>
              <a:t>변경했습니다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  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  </a:t>
            </a:r>
            <a:r>
              <a:rPr lang="ko-KR" altLang="en-US" sz="1400" dirty="0">
                <a:solidFill>
                  <a:schemeClr val="tx1"/>
                </a:solidFill>
              </a:rPr>
              <a:t>전개도 및 내역 반영 바랍니다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해당 도면 </a:t>
            </a:r>
            <a:r>
              <a:rPr lang="en-US" altLang="ko-KR" sz="1400" b="1" dirty="0">
                <a:solidFill>
                  <a:schemeClr val="tx1"/>
                </a:solidFill>
              </a:rPr>
              <a:t>(pill</a:t>
            </a:r>
            <a:r>
              <a:rPr lang="ko-KR" altLang="en-US" sz="1400" b="1" dirty="0">
                <a:solidFill>
                  <a:schemeClr val="tx1"/>
                </a:solidFill>
              </a:rPr>
              <a:t>형식</a:t>
            </a:r>
            <a:r>
              <a:rPr lang="en-US" altLang="ko-KR" sz="1400" b="1" dirty="0">
                <a:solidFill>
                  <a:schemeClr val="tx1"/>
                </a:solidFill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여자화장실 전개도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남자화장실 전개도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FCA5AE7-E964-5F45-0E28-1039201D077F}"/>
              </a:ext>
            </a:extLst>
          </p:cNvPr>
          <p:cNvSpPr/>
          <p:nvPr/>
        </p:nvSpPr>
        <p:spPr>
          <a:xfrm>
            <a:off x="2260794" y="906897"/>
            <a:ext cx="216000" cy="216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31F975-ACA4-2756-4BD8-1FB58A0341AD}"/>
              </a:ext>
            </a:extLst>
          </p:cNvPr>
          <p:cNvSpPr txBox="1"/>
          <p:nvPr/>
        </p:nvSpPr>
        <p:spPr>
          <a:xfrm>
            <a:off x="8193794" y="1345962"/>
            <a:ext cx="802126" cy="333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DONE</a:t>
            </a:r>
          </a:p>
        </p:txBody>
      </p:sp>
      <p:sp>
        <p:nvSpPr>
          <p:cNvPr id="52" name="화살표: 아래쪽 51">
            <a:extLst>
              <a:ext uri="{FF2B5EF4-FFF2-40B4-BE49-F238E27FC236}">
                <a16:creationId xmlns:a16="http://schemas.microsoft.com/office/drawing/2014/main" id="{F7BDAA0F-2608-E3FF-E842-7C8C8AA888D3}"/>
              </a:ext>
            </a:extLst>
          </p:cNvPr>
          <p:cNvSpPr/>
          <p:nvPr/>
        </p:nvSpPr>
        <p:spPr>
          <a:xfrm>
            <a:off x="8842144" y="1467829"/>
            <a:ext cx="108000" cy="108000"/>
          </a:xfrm>
          <a:prstGeom prst="downArrow">
            <a:avLst>
              <a:gd name="adj1" fmla="val 50000"/>
              <a:gd name="adj2" fmla="val 2018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0013A23-2766-6731-7E15-1D85641A3EFA}"/>
              </a:ext>
            </a:extLst>
          </p:cNvPr>
          <p:cNvSpPr/>
          <p:nvPr/>
        </p:nvSpPr>
        <p:spPr>
          <a:xfrm>
            <a:off x="8193793" y="1824916"/>
            <a:ext cx="3572731" cy="4681307"/>
          </a:xfrm>
          <a:prstGeom prst="roundRect">
            <a:avLst>
              <a:gd name="adj" fmla="val 348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상세                                            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v</a:t>
            </a:r>
          </a:p>
          <a:p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담당자            양승호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보고자            홍지호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그룹          </a:t>
            </a:r>
            <a:r>
              <a:rPr lang="en-US" altLang="ko-KR" sz="1400" dirty="0">
                <a:solidFill>
                  <a:schemeClr val="tx1"/>
                </a:solidFill>
              </a:rPr>
              <a:t>03.08 </a:t>
            </a:r>
            <a:r>
              <a:rPr lang="ko-KR" altLang="en-US" sz="1400" dirty="0">
                <a:solidFill>
                  <a:schemeClr val="tx1"/>
                </a:solidFill>
              </a:rPr>
              <a:t>회의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우선순위        긴급     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발행일      </a:t>
            </a:r>
            <a:r>
              <a:rPr lang="en-US" altLang="ko-KR" sz="1400" dirty="0">
                <a:solidFill>
                  <a:schemeClr val="tx1"/>
                </a:solidFill>
              </a:rPr>
              <a:t>2026.02.24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마감일      </a:t>
            </a:r>
            <a:r>
              <a:rPr lang="en-US" altLang="ko-KR" sz="1400" dirty="0">
                <a:solidFill>
                  <a:schemeClr val="tx1"/>
                </a:solidFill>
              </a:rPr>
              <a:t>2026.02.28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레이블   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DA447314-DB5B-241D-F769-414D6B949E38}"/>
              </a:ext>
            </a:extLst>
          </p:cNvPr>
          <p:cNvCxnSpPr>
            <a:cxnSpLocks/>
          </p:cNvCxnSpPr>
          <p:nvPr/>
        </p:nvCxnSpPr>
        <p:spPr>
          <a:xfrm>
            <a:off x="8000989" y="1296089"/>
            <a:ext cx="0" cy="5333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7D14C2FD-3E80-E328-412A-EBD135B294E8}"/>
              </a:ext>
            </a:extLst>
          </p:cNvPr>
          <p:cNvSpPr/>
          <p:nvPr/>
        </p:nvSpPr>
        <p:spPr>
          <a:xfrm>
            <a:off x="2777066" y="5391382"/>
            <a:ext cx="4919133" cy="1167511"/>
          </a:xfrm>
          <a:prstGeom prst="roundRect">
            <a:avLst>
              <a:gd name="adj" fmla="val 348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Add a comment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1" name="Picture 2" descr="User icon icon | Premium AI-generated vector">
            <a:extLst>
              <a:ext uri="{FF2B5EF4-FFF2-40B4-BE49-F238E27FC236}">
                <a16:creationId xmlns:a16="http://schemas.microsoft.com/office/drawing/2014/main" id="{1403660E-94E4-1C5D-125C-0C438BF6A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244" y="5461741"/>
            <a:ext cx="507640" cy="43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BFBCC71F-E2DA-D254-C35E-EC9EA848EDB5}"/>
              </a:ext>
            </a:extLst>
          </p:cNvPr>
          <p:cNvSpPr/>
          <p:nvPr/>
        </p:nvSpPr>
        <p:spPr>
          <a:xfrm>
            <a:off x="11478966" y="1432457"/>
            <a:ext cx="119768" cy="160627"/>
          </a:xfrm>
          <a:custGeom>
            <a:avLst/>
            <a:gdLst>
              <a:gd name="csX0" fmla="*/ 0 w 203200"/>
              <a:gd name="csY0" fmla="*/ 0 h 199950"/>
              <a:gd name="csX1" fmla="*/ 203200 w 203200"/>
              <a:gd name="csY1" fmla="*/ 0 h 199950"/>
              <a:gd name="csX2" fmla="*/ 203200 w 203200"/>
              <a:gd name="csY2" fmla="*/ 199949 h 199950"/>
              <a:gd name="csX3" fmla="*/ 101601 w 203200"/>
              <a:gd name="csY3" fmla="*/ 98350 h 199950"/>
              <a:gd name="csX4" fmla="*/ 0 w 203200"/>
              <a:gd name="csY4" fmla="*/ 199950 h 199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3200" h="199950">
                <a:moveTo>
                  <a:pt x="0" y="0"/>
                </a:moveTo>
                <a:lnTo>
                  <a:pt x="203200" y="0"/>
                </a:lnTo>
                <a:lnTo>
                  <a:pt x="203200" y="199949"/>
                </a:lnTo>
                <a:lnTo>
                  <a:pt x="101601" y="98350"/>
                </a:lnTo>
                <a:lnTo>
                  <a:pt x="0" y="19995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25" name="직선 연결선 1024">
            <a:extLst>
              <a:ext uri="{FF2B5EF4-FFF2-40B4-BE49-F238E27FC236}">
                <a16:creationId xmlns:a16="http://schemas.microsoft.com/office/drawing/2014/main" id="{E7BE3419-2130-6FAC-51B7-B717A49B9557}"/>
              </a:ext>
            </a:extLst>
          </p:cNvPr>
          <p:cNvCxnSpPr/>
          <p:nvPr/>
        </p:nvCxnSpPr>
        <p:spPr>
          <a:xfrm>
            <a:off x="8193794" y="2154873"/>
            <a:ext cx="35727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User icon icon | Premium AI-generated vector">
            <a:extLst>
              <a:ext uri="{FF2B5EF4-FFF2-40B4-BE49-F238E27FC236}">
                <a16:creationId xmlns:a16="http://schemas.microsoft.com/office/drawing/2014/main" id="{23D8BCB3-66DE-4568-7EC2-4654CE6D3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418" y="2208196"/>
            <a:ext cx="507640" cy="43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8" name="그룹 1027">
            <a:extLst>
              <a:ext uri="{FF2B5EF4-FFF2-40B4-BE49-F238E27FC236}">
                <a16:creationId xmlns:a16="http://schemas.microsoft.com/office/drawing/2014/main" id="{12279C0B-7F69-C76A-BB71-83B3021D5854}"/>
              </a:ext>
            </a:extLst>
          </p:cNvPr>
          <p:cNvGrpSpPr/>
          <p:nvPr/>
        </p:nvGrpSpPr>
        <p:grpSpPr>
          <a:xfrm>
            <a:off x="9229087" y="2738238"/>
            <a:ext cx="282301" cy="282301"/>
            <a:chOff x="7871042" y="747831"/>
            <a:chExt cx="282301" cy="282301"/>
          </a:xfrm>
        </p:grpSpPr>
        <p:sp>
          <p:nvSpPr>
            <p:cNvPr id="1029" name="타원 1028">
              <a:extLst>
                <a:ext uri="{FF2B5EF4-FFF2-40B4-BE49-F238E27FC236}">
                  <a16:creationId xmlns:a16="http://schemas.microsoft.com/office/drawing/2014/main" id="{13AB7935-B698-0AA9-6B95-95D3DAFF5C44}"/>
                </a:ext>
              </a:extLst>
            </p:cNvPr>
            <p:cNvSpPr/>
            <p:nvPr/>
          </p:nvSpPr>
          <p:spPr>
            <a:xfrm>
              <a:off x="7871042" y="747831"/>
              <a:ext cx="282301" cy="28230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" name="타원 1029">
              <a:extLst>
                <a:ext uri="{FF2B5EF4-FFF2-40B4-BE49-F238E27FC236}">
                  <a16:creationId xmlns:a16="http://schemas.microsoft.com/office/drawing/2014/main" id="{C86393F1-F7EB-07A4-3E57-E5CC4A380412}"/>
                </a:ext>
              </a:extLst>
            </p:cNvPr>
            <p:cNvSpPr/>
            <p:nvPr/>
          </p:nvSpPr>
          <p:spPr>
            <a:xfrm>
              <a:off x="7963592" y="785551"/>
              <a:ext cx="97200" cy="97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1" name="자유형: 도형 1030">
              <a:extLst>
                <a:ext uri="{FF2B5EF4-FFF2-40B4-BE49-F238E27FC236}">
                  <a16:creationId xmlns:a16="http://schemas.microsoft.com/office/drawing/2014/main" id="{91862BB8-6675-CBEA-ECD0-1F1C10A264B7}"/>
                </a:ext>
              </a:extLst>
            </p:cNvPr>
            <p:cNvSpPr/>
            <p:nvPr/>
          </p:nvSpPr>
          <p:spPr>
            <a:xfrm>
              <a:off x="7930114" y="892171"/>
              <a:ext cx="164156" cy="130286"/>
            </a:xfrm>
            <a:custGeom>
              <a:avLst/>
              <a:gdLst>
                <a:gd name="csX0" fmla="*/ 98097 w 196194"/>
                <a:gd name="csY0" fmla="*/ 0 h 155714"/>
                <a:gd name="csX1" fmla="*/ 196194 w 196194"/>
                <a:gd name="csY1" fmla="*/ 98097 h 155714"/>
                <a:gd name="csX2" fmla="*/ 192121 w 196194"/>
                <a:gd name="csY2" fmla="*/ 118273 h 155714"/>
                <a:gd name="csX3" fmla="*/ 153041 w 196194"/>
                <a:gd name="csY3" fmla="*/ 144622 h 155714"/>
                <a:gd name="csX4" fmla="*/ 98098 w 196194"/>
                <a:gd name="csY4" fmla="*/ 155714 h 155714"/>
                <a:gd name="csX5" fmla="*/ 43156 w 196194"/>
                <a:gd name="csY5" fmla="*/ 144622 h 155714"/>
                <a:gd name="csX6" fmla="*/ 4073 w 196194"/>
                <a:gd name="csY6" fmla="*/ 118272 h 155714"/>
                <a:gd name="csX7" fmla="*/ 0 w 196194"/>
                <a:gd name="csY7" fmla="*/ 98097 h 155714"/>
                <a:gd name="csX8" fmla="*/ 98097 w 196194"/>
                <a:gd name="csY8" fmla="*/ 0 h 155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6194" h="155714">
                  <a:moveTo>
                    <a:pt x="98097" y="0"/>
                  </a:moveTo>
                  <a:cubicBezTo>
                    <a:pt x="152274" y="0"/>
                    <a:pt x="196194" y="43920"/>
                    <a:pt x="196194" y="98097"/>
                  </a:cubicBezTo>
                  <a:lnTo>
                    <a:pt x="192121" y="118273"/>
                  </a:lnTo>
                  <a:lnTo>
                    <a:pt x="153041" y="144622"/>
                  </a:lnTo>
                  <a:cubicBezTo>
                    <a:pt x="136154" y="151764"/>
                    <a:pt x="117587" y="155714"/>
                    <a:pt x="98098" y="155714"/>
                  </a:cubicBezTo>
                  <a:cubicBezTo>
                    <a:pt x="78609" y="155714"/>
                    <a:pt x="60043" y="151764"/>
                    <a:pt x="43156" y="144622"/>
                  </a:cubicBezTo>
                  <a:lnTo>
                    <a:pt x="4073" y="118272"/>
                  </a:lnTo>
                  <a:lnTo>
                    <a:pt x="0" y="98097"/>
                  </a:lnTo>
                  <a:cubicBezTo>
                    <a:pt x="0" y="43920"/>
                    <a:pt x="43920" y="0"/>
                    <a:pt x="98097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32" name="사각형: 둥근 모서리 1031">
            <a:extLst>
              <a:ext uri="{FF2B5EF4-FFF2-40B4-BE49-F238E27FC236}">
                <a16:creationId xmlns:a16="http://schemas.microsoft.com/office/drawing/2014/main" id="{47DE95E8-6E8E-CD6D-4F87-4519E76DB134}"/>
              </a:ext>
            </a:extLst>
          </p:cNvPr>
          <p:cNvSpPr/>
          <p:nvPr/>
        </p:nvSpPr>
        <p:spPr>
          <a:xfrm>
            <a:off x="9236315" y="3635611"/>
            <a:ext cx="216000" cy="21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639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453</Words>
  <Application>Microsoft Office PowerPoint</Application>
  <PresentationFormat>와이드스크린</PresentationFormat>
  <Paragraphs>198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승호 양</dc:creator>
  <cp:lastModifiedBy>승호 양</cp:lastModifiedBy>
  <cp:revision>5</cp:revision>
  <dcterms:created xsi:type="dcterms:W3CDTF">2026-02-19T13:55:14Z</dcterms:created>
  <dcterms:modified xsi:type="dcterms:W3CDTF">2026-02-20T02:49:00Z</dcterms:modified>
</cp:coreProperties>
</file>